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Londrina Solid Heavy" charset="1" panose="00000A00000000000000"/>
      <p:regular r:id="rId48"/>
    </p:embeddedFont>
    <p:embeddedFont>
      <p:font typeface="Agrandir Bold" charset="1" panose="00000800000000000000"/>
      <p:regular r:id="rId49"/>
    </p:embeddedFont>
    <p:embeddedFont>
      <p:font typeface="Agrandir" charset="1" panose="00000500000000000000"/>
      <p:regular r:id="rId50"/>
    </p:embeddedFont>
    <p:embeddedFont>
      <p:font typeface="Canva Sans" charset="1" panose="020B0503030501040103"/>
      <p:regular r:id="rId51"/>
    </p:embeddedFont>
    <p:embeddedFont>
      <p:font typeface="Canva Sans Bold" charset="1" panose="020B0803030501040103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NurhanGhonim/sleep-stage-classification.git" TargetMode="External" Type="http://schemas.openxmlformats.org/officeDocument/2006/relationships/hyperlink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6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6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489" y="451569"/>
            <a:ext cx="6128163" cy="4267430"/>
          </a:xfrm>
          <a:custGeom>
            <a:avLst/>
            <a:gdLst/>
            <a:ahLst/>
            <a:cxnLst/>
            <a:rect r="r" b="b" t="t" l="l"/>
            <a:pathLst>
              <a:path h="4267430" w="6128163">
                <a:moveTo>
                  <a:pt x="0" y="0"/>
                </a:moveTo>
                <a:lnTo>
                  <a:pt x="6128164" y="0"/>
                </a:lnTo>
                <a:lnTo>
                  <a:pt x="6128164" y="4267430"/>
                </a:lnTo>
                <a:lnTo>
                  <a:pt x="0" y="426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65812" y="5775848"/>
            <a:ext cx="3993488" cy="3855532"/>
          </a:xfrm>
          <a:custGeom>
            <a:avLst/>
            <a:gdLst/>
            <a:ahLst/>
            <a:cxnLst/>
            <a:rect r="r" b="b" t="t" l="l"/>
            <a:pathLst>
              <a:path h="3855532" w="3993488">
                <a:moveTo>
                  <a:pt x="0" y="0"/>
                </a:moveTo>
                <a:lnTo>
                  <a:pt x="3993488" y="0"/>
                </a:lnTo>
                <a:lnTo>
                  <a:pt x="3993488" y="3855532"/>
                </a:lnTo>
                <a:lnTo>
                  <a:pt x="0" y="3855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89568" y="1651276"/>
            <a:ext cx="4239316" cy="3067723"/>
          </a:xfrm>
          <a:custGeom>
            <a:avLst/>
            <a:gdLst/>
            <a:ahLst/>
            <a:cxnLst/>
            <a:rect r="r" b="b" t="t" l="l"/>
            <a:pathLst>
              <a:path h="3067723" w="4239316">
                <a:moveTo>
                  <a:pt x="0" y="0"/>
                </a:moveTo>
                <a:lnTo>
                  <a:pt x="4239316" y="0"/>
                </a:lnTo>
                <a:lnTo>
                  <a:pt x="4239316" y="3067723"/>
                </a:lnTo>
                <a:lnTo>
                  <a:pt x="0" y="3067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98432" y="2053161"/>
            <a:ext cx="7691137" cy="310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81"/>
              </a:lnSpc>
            </a:pPr>
            <a:r>
              <a:rPr lang="en-US" b="true" sz="5334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SLEEP STAG</a:t>
            </a:r>
            <a:r>
              <a:rPr lang="en-US" b="true" sz="5334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 CLASSIFICATION USING HEART RATE PHYSIOLOGICAL SIGNAL</a:t>
            </a:r>
          </a:p>
          <a:p>
            <a:pPr algn="ctr" marL="0" indent="0" lvl="0">
              <a:lnSpc>
                <a:spcPts val="608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20129" y="4718999"/>
            <a:ext cx="3578302" cy="4278405"/>
          </a:xfrm>
          <a:custGeom>
            <a:avLst/>
            <a:gdLst/>
            <a:ahLst/>
            <a:cxnLst/>
            <a:rect r="r" b="b" t="t" l="l"/>
            <a:pathLst>
              <a:path h="4278405" w="3578302">
                <a:moveTo>
                  <a:pt x="0" y="0"/>
                </a:moveTo>
                <a:lnTo>
                  <a:pt x="3578303" y="0"/>
                </a:lnTo>
                <a:lnTo>
                  <a:pt x="3578303" y="4278405"/>
                </a:lnTo>
                <a:lnTo>
                  <a:pt x="0" y="4278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67318" y="7020989"/>
            <a:ext cx="655336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Under Superviosion of:</a:t>
            </a:r>
          </a:p>
          <a:p>
            <a:pPr algn="ctr">
              <a:lnSpc>
                <a:spcPts val="4550"/>
              </a:lnSpc>
            </a:pPr>
            <a:r>
              <a:rPr lang="en-US" sz="35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DR. Ibrahiem Sadek</a:t>
            </a:r>
          </a:p>
          <a:p>
            <a:pPr algn="ctr">
              <a:lnSpc>
                <a:spcPts val="4550"/>
              </a:lnSpc>
            </a:pPr>
            <a:r>
              <a:rPr lang="en-US" b="true" sz="3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Eng. Veronica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53864" y="6236348"/>
            <a:ext cx="3302440" cy="3395032"/>
          </a:xfrm>
          <a:custGeom>
            <a:avLst/>
            <a:gdLst/>
            <a:ahLst/>
            <a:cxnLst/>
            <a:rect r="r" b="b" t="t" l="l"/>
            <a:pathLst>
              <a:path h="3395032" w="3302440">
                <a:moveTo>
                  <a:pt x="0" y="0"/>
                </a:moveTo>
                <a:lnTo>
                  <a:pt x="3302440" y="0"/>
                </a:lnTo>
                <a:lnTo>
                  <a:pt x="3302440" y="3395032"/>
                </a:lnTo>
                <a:lnTo>
                  <a:pt x="0" y="3395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335090"/>
            <a:ext cx="2905787" cy="3520227"/>
          </a:xfrm>
          <a:custGeom>
            <a:avLst/>
            <a:gdLst/>
            <a:ahLst/>
            <a:cxnLst/>
            <a:rect r="r" b="b" t="t" l="l"/>
            <a:pathLst>
              <a:path h="3520227" w="2905787">
                <a:moveTo>
                  <a:pt x="0" y="0"/>
                </a:moveTo>
                <a:lnTo>
                  <a:pt x="2905787" y="0"/>
                </a:lnTo>
                <a:lnTo>
                  <a:pt x="2905787" y="3520227"/>
                </a:lnTo>
                <a:lnTo>
                  <a:pt x="0" y="35202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47116">
            <a:off x="13325002" y="5860356"/>
            <a:ext cx="7868596" cy="5822761"/>
          </a:xfrm>
          <a:custGeom>
            <a:avLst/>
            <a:gdLst/>
            <a:ahLst/>
            <a:cxnLst/>
            <a:rect r="r" b="b" t="t" l="l"/>
            <a:pathLst>
              <a:path h="5822761" w="7868596">
                <a:moveTo>
                  <a:pt x="0" y="0"/>
                </a:moveTo>
                <a:lnTo>
                  <a:pt x="7868596" y="0"/>
                </a:lnTo>
                <a:lnTo>
                  <a:pt x="7868596" y="5822761"/>
                </a:lnTo>
                <a:lnTo>
                  <a:pt x="0" y="582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4657" y="2370130"/>
            <a:ext cx="3829113" cy="3936471"/>
          </a:xfrm>
          <a:custGeom>
            <a:avLst/>
            <a:gdLst/>
            <a:ahLst/>
            <a:cxnLst/>
            <a:rect r="r" b="b" t="t" l="l"/>
            <a:pathLst>
              <a:path h="3936471" w="3829113">
                <a:moveTo>
                  <a:pt x="0" y="0"/>
                </a:moveTo>
                <a:lnTo>
                  <a:pt x="3829113" y="0"/>
                </a:lnTo>
                <a:lnTo>
                  <a:pt x="3829113" y="3936471"/>
                </a:lnTo>
                <a:lnTo>
                  <a:pt x="0" y="393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0014" y="5143500"/>
            <a:ext cx="7193756" cy="2615911"/>
          </a:xfrm>
          <a:custGeom>
            <a:avLst/>
            <a:gdLst/>
            <a:ahLst/>
            <a:cxnLst/>
            <a:rect r="r" b="b" t="t" l="l"/>
            <a:pathLst>
              <a:path h="2615911" w="7193756">
                <a:moveTo>
                  <a:pt x="0" y="0"/>
                </a:moveTo>
                <a:lnTo>
                  <a:pt x="7193756" y="0"/>
                </a:lnTo>
                <a:lnTo>
                  <a:pt x="7193756" y="2615911"/>
                </a:lnTo>
                <a:lnTo>
                  <a:pt x="0" y="2615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28700" y="3257026"/>
            <a:ext cx="9922201" cy="5263880"/>
          </a:xfrm>
          <a:custGeom>
            <a:avLst/>
            <a:gdLst/>
            <a:ahLst/>
            <a:cxnLst/>
            <a:rect r="r" b="b" t="t" l="l"/>
            <a:pathLst>
              <a:path h="5263880" w="9922201">
                <a:moveTo>
                  <a:pt x="0" y="0"/>
                </a:moveTo>
                <a:lnTo>
                  <a:pt x="9922201" y="0"/>
                </a:lnTo>
                <a:lnTo>
                  <a:pt x="9922201" y="5263880"/>
                </a:lnTo>
                <a:lnTo>
                  <a:pt x="0" y="52638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993" y="3796254"/>
            <a:ext cx="923351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Nurhan Mohamed Reyad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Manar Hamdy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8542" y="1375339"/>
            <a:ext cx="9246321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DONE 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8542" y="5746091"/>
            <a:ext cx="9376966" cy="130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3"/>
              </a:lnSpc>
            </a:pPr>
            <a:r>
              <a:rPr lang="en-US" sz="5077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Git hub link</a:t>
            </a:r>
          </a:p>
          <a:p>
            <a:pPr algn="l">
              <a:lnSpc>
                <a:spcPts val="3046"/>
              </a:lnSpc>
            </a:pPr>
            <a:r>
              <a:rPr lang="en-US" sz="2538" u="sng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  <a:hlinkClick r:id="rId10" tooltip="https://github.com/NurhanGhonim/sleep-stage-classification.git"/>
              </a:rPr>
              <a:t>git@github.com:NurhanGhonim/sleep-stage-classification.git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47116">
            <a:off x="13325002" y="5860356"/>
            <a:ext cx="7868596" cy="5822761"/>
          </a:xfrm>
          <a:custGeom>
            <a:avLst/>
            <a:gdLst/>
            <a:ahLst/>
            <a:cxnLst/>
            <a:rect r="r" b="b" t="t" l="l"/>
            <a:pathLst>
              <a:path h="5822761" w="7868596">
                <a:moveTo>
                  <a:pt x="0" y="0"/>
                </a:moveTo>
                <a:lnTo>
                  <a:pt x="7868596" y="0"/>
                </a:lnTo>
                <a:lnTo>
                  <a:pt x="7868596" y="5822761"/>
                </a:lnTo>
                <a:lnTo>
                  <a:pt x="0" y="582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4657" y="2370130"/>
            <a:ext cx="3829113" cy="3936471"/>
          </a:xfrm>
          <a:custGeom>
            <a:avLst/>
            <a:gdLst/>
            <a:ahLst/>
            <a:cxnLst/>
            <a:rect r="r" b="b" t="t" l="l"/>
            <a:pathLst>
              <a:path h="3936471" w="3829113">
                <a:moveTo>
                  <a:pt x="0" y="0"/>
                </a:moveTo>
                <a:lnTo>
                  <a:pt x="3829113" y="0"/>
                </a:lnTo>
                <a:lnTo>
                  <a:pt x="3829113" y="3936471"/>
                </a:lnTo>
                <a:lnTo>
                  <a:pt x="0" y="393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0014" y="5143500"/>
            <a:ext cx="7193756" cy="2615911"/>
          </a:xfrm>
          <a:custGeom>
            <a:avLst/>
            <a:gdLst/>
            <a:ahLst/>
            <a:cxnLst/>
            <a:rect r="r" b="b" t="t" l="l"/>
            <a:pathLst>
              <a:path h="2615911" w="7193756">
                <a:moveTo>
                  <a:pt x="0" y="0"/>
                </a:moveTo>
                <a:lnTo>
                  <a:pt x="7193756" y="0"/>
                </a:lnTo>
                <a:lnTo>
                  <a:pt x="7193756" y="2615911"/>
                </a:lnTo>
                <a:lnTo>
                  <a:pt x="0" y="2615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28700" y="3257026"/>
            <a:ext cx="9922201" cy="5263880"/>
          </a:xfrm>
          <a:custGeom>
            <a:avLst/>
            <a:gdLst/>
            <a:ahLst/>
            <a:cxnLst/>
            <a:rect r="r" b="b" t="t" l="l"/>
            <a:pathLst>
              <a:path h="5263880" w="9922201">
                <a:moveTo>
                  <a:pt x="0" y="0"/>
                </a:moveTo>
                <a:lnTo>
                  <a:pt x="9922201" y="0"/>
                </a:lnTo>
                <a:lnTo>
                  <a:pt x="9922201" y="5263880"/>
                </a:lnTo>
                <a:lnTo>
                  <a:pt x="0" y="52638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8542" y="3834354"/>
            <a:ext cx="9376966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Automated sleep stage classification</a:t>
            </a:r>
          </a:p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Deep learning approach</a:t>
            </a:r>
          </a:p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Heart-related biosignals</a:t>
            </a:r>
          </a:p>
          <a:p>
            <a:pPr algn="l">
              <a:lnSpc>
                <a:spcPts val="45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88542" y="1375339"/>
            <a:ext cx="9246321" cy="295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M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AIN FOCUS:</a:t>
            </a:r>
          </a:p>
          <a:p>
            <a:pPr algn="l" marL="1468124" indent="-734062" lvl="1">
              <a:lnSpc>
                <a:spcPts val="7752"/>
              </a:lnSpc>
              <a:buFont typeface="Arial"/>
              <a:buChar char="•"/>
            </a:pPr>
          </a:p>
          <a:p>
            <a:pPr algn="l" marL="0" indent="0" lvl="0">
              <a:lnSpc>
                <a:spcPts val="7752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47116">
            <a:off x="13325002" y="5860356"/>
            <a:ext cx="7868596" cy="5822761"/>
          </a:xfrm>
          <a:custGeom>
            <a:avLst/>
            <a:gdLst/>
            <a:ahLst/>
            <a:cxnLst/>
            <a:rect r="r" b="b" t="t" l="l"/>
            <a:pathLst>
              <a:path h="5822761" w="7868596">
                <a:moveTo>
                  <a:pt x="0" y="0"/>
                </a:moveTo>
                <a:lnTo>
                  <a:pt x="7868596" y="0"/>
                </a:lnTo>
                <a:lnTo>
                  <a:pt x="7868596" y="5822761"/>
                </a:lnTo>
                <a:lnTo>
                  <a:pt x="0" y="582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4657" y="2370130"/>
            <a:ext cx="3829113" cy="3936471"/>
          </a:xfrm>
          <a:custGeom>
            <a:avLst/>
            <a:gdLst/>
            <a:ahLst/>
            <a:cxnLst/>
            <a:rect r="r" b="b" t="t" l="l"/>
            <a:pathLst>
              <a:path h="3936471" w="3829113">
                <a:moveTo>
                  <a:pt x="0" y="0"/>
                </a:moveTo>
                <a:lnTo>
                  <a:pt x="3829113" y="0"/>
                </a:lnTo>
                <a:lnTo>
                  <a:pt x="3829113" y="3936471"/>
                </a:lnTo>
                <a:lnTo>
                  <a:pt x="0" y="393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0014" y="5143500"/>
            <a:ext cx="13562133" cy="4931685"/>
          </a:xfrm>
          <a:custGeom>
            <a:avLst/>
            <a:gdLst/>
            <a:ahLst/>
            <a:cxnLst/>
            <a:rect r="r" b="b" t="t" l="l"/>
            <a:pathLst>
              <a:path h="4931685" w="13562133">
                <a:moveTo>
                  <a:pt x="0" y="0"/>
                </a:moveTo>
                <a:lnTo>
                  <a:pt x="13562133" y="0"/>
                </a:lnTo>
                <a:lnTo>
                  <a:pt x="13562133" y="4931685"/>
                </a:lnTo>
                <a:lnTo>
                  <a:pt x="0" y="4931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44222" y="2840849"/>
            <a:ext cx="13345938" cy="7080225"/>
          </a:xfrm>
          <a:custGeom>
            <a:avLst/>
            <a:gdLst/>
            <a:ahLst/>
            <a:cxnLst/>
            <a:rect r="r" b="b" t="t" l="l"/>
            <a:pathLst>
              <a:path h="7080225" w="13345938">
                <a:moveTo>
                  <a:pt x="0" y="0"/>
                </a:moveTo>
                <a:lnTo>
                  <a:pt x="13345937" y="0"/>
                </a:lnTo>
                <a:lnTo>
                  <a:pt x="13345937" y="7080225"/>
                </a:lnTo>
                <a:lnTo>
                  <a:pt x="0" y="7080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56886"/>
            <a:ext cx="10631314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is Sleep Stage Classification?</a:t>
            </a:r>
          </a:p>
          <a:p>
            <a:pPr algn="l" marL="906772" indent="-453386" lvl="1">
              <a:lnSpc>
                <a:spcPts val="5039"/>
              </a:lnSpc>
              <a:buFont typeface="Arial"/>
              <a:buChar char="•"/>
            </a:pP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Automatic</a:t>
            </a: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 identification of sleep stages</a:t>
            </a:r>
          </a:p>
          <a:p>
            <a:pPr algn="l" marL="906772" indent="-453386" lvl="1">
              <a:lnSpc>
                <a:spcPts val="5039"/>
              </a:lnSpc>
              <a:buFont typeface="Arial"/>
              <a:buChar char="•"/>
            </a:pP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Impo</a:t>
            </a: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rtant for sleep quality analysis</a:t>
            </a:r>
          </a:p>
          <a:p>
            <a:pPr algn="l" marL="906772" indent="-453386" lvl="1">
              <a:lnSpc>
                <a:spcPts val="5039"/>
              </a:lnSpc>
              <a:buFont typeface="Arial"/>
              <a:buChar char="•"/>
            </a:pP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Us</a:t>
            </a:r>
            <a:r>
              <a:rPr lang="en-US" sz="4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ed in healthcare and monitoring systems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88542" y="1375339"/>
            <a:ext cx="9246321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NTRODUCTION</a:t>
            </a:r>
          </a:p>
        </p:txBody>
      </p: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16977">
            <a:off x="172376" y="-658221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8" y="0"/>
                </a:lnTo>
                <a:lnTo>
                  <a:pt x="5434068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5618" y="8064314"/>
            <a:ext cx="3658431" cy="4114800"/>
          </a:xfrm>
          <a:custGeom>
            <a:avLst/>
            <a:gdLst/>
            <a:ahLst/>
            <a:cxnLst/>
            <a:rect r="r" b="b" t="t" l="l"/>
            <a:pathLst>
              <a:path h="4114800" w="3658431">
                <a:moveTo>
                  <a:pt x="0" y="0"/>
                </a:moveTo>
                <a:lnTo>
                  <a:pt x="3658431" y="0"/>
                </a:lnTo>
                <a:lnTo>
                  <a:pt x="36584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71855" y="3554007"/>
            <a:ext cx="6400561" cy="3178987"/>
            <a:chOff x="0" y="0"/>
            <a:chExt cx="8534081" cy="423864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09550"/>
              <a:ext cx="8534081" cy="1348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37"/>
                </a:lnSpc>
              </a:pPr>
              <a:r>
                <a:rPr lang="en-US" b="true" sz="5643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Major</a:t>
              </a:r>
              <a:r>
                <a:rPr lang="en-US" b="true" sz="5643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Advantage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09507"/>
              <a:ext cx="8534081" cy="2829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Ca</a:t>
              </a: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n be collected using:</a:t>
              </a:r>
            </a:p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Sma</a:t>
              </a: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rtwatches</a:t>
              </a:r>
            </a:p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Fitness bands</a:t>
              </a:r>
            </a:p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Wearable devices</a:t>
              </a:r>
            </a:p>
            <a:p>
              <a:pPr algn="ctr">
                <a:lnSpc>
                  <a:spcPts val="33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95357" y="3521450"/>
            <a:ext cx="6166362" cy="4802180"/>
            <a:chOff x="0" y="0"/>
            <a:chExt cx="8221816" cy="640290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09550"/>
              <a:ext cx="8221816" cy="2480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0"/>
                </a:lnSpc>
                <a:spcBef>
                  <a:spcPct val="0"/>
                </a:spcBef>
              </a:pPr>
              <a:r>
                <a:rPr lang="en-US" b="true" sz="5400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</a:t>
              </a:r>
              <a:r>
                <a:rPr lang="en-US" b="true" sz="5400" strike="noStrike" u="none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actical Importance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62150" y="2518823"/>
              <a:ext cx="7697517" cy="3884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55647" indent="-377824" lvl="1">
                <a:lnSpc>
                  <a:spcPts val="45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499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Non-inv</a:t>
              </a:r>
              <a:r>
                <a:rPr lang="en-US" sz="3499" strike="noStrike" u="none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asive monitoring</a:t>
              </a:r>
            </a:p>
            <a:p>
              <a:pPr algn="ctr" marL="755647" indent="-377824" lvl="1">
                <a:lnSpc>
                  <a:spcPts val="45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499" strike="noStrike" u="none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Portable solution</a:t>
              </a:r>
            </a:p>
            <a:p>
              <a:pPr algn="ctr" marL="755647" indent="-377824" lvl="1">
                <a:lnSpc>
                  <a:spcPts val="45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499" strike="noStrike" u="none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No hospital setup required</a:t>
              </a:r>
            </a:p>
            <a:p>
              <a:pPr algn="ctr" marL="0" indent="0" lvl="0">
                <a:lnSpc>
                  <a:spcPts val="45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12850" y="1799262"/>
            <a:ext cx="13465688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HY HEART RATE WAS CHOSEN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521450"/>
            <a:ext cx="5319194" cy="3637691"/>
            <a:chOff x="0" y="0"/>
            <a:chExt cx="7092259" cy="48502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09550"/>
              <a:ext cx="7092259" cy="1348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37"/>
                </a:lnSpc>
              </a:pPr>
              <a:r>
                <a:rPr lang="en-US" b="true" sz="5643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</a:t>
              </a:r>
              <a:r>
                <a:rPr lang="en-US" b="true" sz="5643">
                  <a:solidFill>
                    <a:srgbClr val="A227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 Reasons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465737"/>
              <a:ext cx="7092259" cy="3384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Str</a:t>
              </a: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ong correlation with sleep stages</a:t>
              </a:r>
            </a:p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Lower computational complexity</a:t>
              </a:r>
            </a:p>
            <a:p>
              <a:pPr algn="ctr" marL="548077" indent="-274039" lvl="1">
                <a:lnSpc>
                  <a:spcPts val="3300"/>
                </a:lnSpc>
                <a:buFont typeface="Arial"/>
                <a:buChar char="•"/>
              </a:pPr>
              <a:r>
                <a:rPr lang="en-US" sz="2538">
                  <a:solidFill>
                    <a:srgbClr val="A2272C"/>
                  </a:solidFill>
                  <a:latin typeface="Agrandir"/>
                  <a:ea typeface="Agrandir"/>
                  <a:cs typeface="Agrandir"/>
                  <a:sym typeface="Agrandir"/>
                </a:rPr>
                <a:t>Easier real-world deployment</a:t>
              </a:r>
            </a:p>
            <a:p>
              <a:pPr algn="ctr">
                <a:lnSpc>
                  <a:spcPts val="3300"/>
                </a:lnSpc>
              </a:pPr>
            </a:p>
          </p:txBody>
        </p:sp>
      </p:grpSp>
    </p:spTree>
  </p:cSld>
  <p:clrMapOvr>
    <a:masterClrMapping/>
  </p:clrMapOvr>
  <p:transition spd="fast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16977">
            <a:off x="172376" y="-658221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8" y="0"/>
                </a:lnTo>
                <a:lnTo>
                  <a:pt x="5434068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5618" y="8064314"/>
            <a:ext cx="3658431" cy="4114800"/>
          </a:xfrm>
          <a:custGeom>
            <a:avLst/>
            <a:gdLst/>
            <a:ahLst/>
            <a:cxnLst/>
            <a:rect r="r" b="b" t="t" l="l"/>
            <a:pathLst>
              <a:path h="4114800" w="3658431">
                <a:moveTo>
                  <a:pt x="0" y="0"/>
                </a:moveTo>
                <a:lnTo>
                  <a:pt x="3658431" y="0"/>
                </a:lnTo>
                <a:lnTo>
                  <a:pt x="36584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57769" y="1028700"/>
            <a:ext cx="12652967" cy="4011947"/>
          </a:xfrm>
          <a:custGeom>
            <a:avLst/>
            <a:gdLst/>
            <a:ahLst/>
            <a:cxnLst/>
            <a:rect r="r" b="b" t="t" l="l"/>
            <a:pathLst>
              <a:path h="4011947" w="12652967">
                <a:moveTo>
                  <a:pt x="0" y="0"/>
                </a:moveTo>
                <a:lnTo>
                  <a:pt x="12652967" y="0"/>
                </a:lnTo>
                <a:lnTo>
                  <a:pt x="12652967" y="4011947"/>
                </a:lnTo>
                <a:lnTo>
                  <a:pt x="0" y="40119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980" r="0" b="-598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0840" y="5260677"/>
            <a:ext cx="5798861" cy="5026323"/>
          </a:xfrm>
          <a:custGeom>
            <a:avLst/>
            <a:gdLst/>
            <a:ahLst/>
            <a:cxnLst/>
            <a:rect r="r" b="b" t="t" l="l"/>
            <a:pathLst>
              <a:path h="5026323" w="5798861">
                <a:moveTo>
                  <a:pt x="0" y="0"/>
                </a:moveTo>
                <a:lnTo>
                  <a:pt x="5798861" y="0"/>
                </a:lnTo>
                <a:lnTo>
                  <a:pt x="5798861" y="5026323"/>
                </a:lnTo>
                <a:lnTo>
                  <a:pt x="0" y="502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542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47116">
            <a:off x="13325002" y="5860356"/>
            <a:ext cx="7868596" cy="5822761"/>
          </a:xfrm>
          <a:custGeom>
            <a:avLst/>
            <a:gdLst/>
            <a:ahLst/>
            <a:cxnLst/>
            <a:rect r="r" b="b" t="t" l="l"/>
            <a:pathLst>
              <a:path h="5822761" w="7868596">
                <a:moveTo>
                  <a:pt x="0" y="0"/>
                </a:moveTo>
                <a:lnTo>
                  <a:pt x="7868596" y="0"/>
                </a:lnTo>
                <a:lnTo>
                  <a:pt x="7868596" y="5822761"/>
                </a:lnTo>
                <a:lnTo>
                  <a:pt x="0" y="582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24657" y="2370130"/>
            <a:ext cx="3829113" cy="3936471"/>
          </a:xfrm>
          <a:custGeom>
            <a:avLst/>
            <a:gdLst/>
            <a:ahLst/>
            <a:cxnLst/>
            <a:rect r="r" b="b" t="t" l="l"/>
            <a:pathLst>
              <a:path h="3936471" w="3829113">
                <a:moveTo>
                  <a:pt x="0" y="0"/>
                </a:moveTo>
                <a:lnTo>
                  <a:pt x="3829113" y="0"/>
                </a:lnTo>
                <a:lnTo>
                  <a:pt x="3829113" y="3936471"/>
                </a:lnTo>
                <a:lnTo>
                  <a:pt x="0" y="393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0014" y="5143500"/>
            <a:ext cx="13562133" cy="4931685"/>
          </a:xfrm>
          <a:custGeom>
            <a:avLst/>
            <a:gdLst/>
            <a:ahLst/>
            <a:cxnLst/>
            <a:rect r="r" b="b" t="t" l="l"/>
            <a:pathLst>
              <a:path h="4931685" w="13562133">
                <a:moveTo>
                  <a:pt x="0" y="0"/>
                </a:moveTo>
                <a:lnTo>
                  <a:pt x="13562133" y="0"/>
                </a:lnTo>
                <a:lnTo>
                  <a:pt x="13562133" y="4931685"/>
                </a:lnTo>
                <a:lnTo>
                  <a:pt x="0" y="4931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44222" y="2840849"/>
            <a:ext cx="13345938" cy="7080225"/>
          </a:xfrm>
          <a:custGeom>
            <a:avLst/>
            <a:gdLst/>
            <a:ahLst/>
            <a:cxnLst/>
            <a:rect r="r" b="b" t="t" l="l"/>
            <a:pathLst>
              <a:path h="7080225" w="13345938">
                <a:moveTo>
                  <a:pt x="0" y="0"/>
                </a:moveTo>
                <a:lnTo>
                  <a:pt x="13345937" y="0"/>
                </a:lnTo>
                <a:lnTo>
                  <a:pt x="13345937" y="7080225"/>
                </a:lnTo>
                <a:lnTo>
                  <a:pt x="0" y="7080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7248" y="3344326"/>
            <a:ext cx="9376966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Heart signals provide:</a:t>
            </a:r>
          </a:p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Cardiovascular activity information</a:t>
            </a:r>
          </a:p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Autonomic</a:t>
            </a: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 nervous syste</a:t>
            </a: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 behavior</a:t>
            </a:r>
          </a:p>
          <a:p>
            <a:pPr algn="l" marL="820414" indent="-410207" lvl="1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Physiological state monitoring</a:t>
            </a:r>
          </a:p>
          <a:p>
            <a:pPr algn="l">
              <a:lnSpc>
                <a:spcPts val="45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9606163" cy="89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54"/>
              </a:lnSpc>
            </a:pPr>
            <a:r>
              <a:rPr lang="en-US" b="true" sz="61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WHY HEA</a:t>
            </a:r>
            <a:r>
              <a:rPr lang="en-US" b="true" sz="61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RT-RELATED SIGNALS?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248" y="6487347"/>
            <a:ext cx="10187615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Strong relationshi</a:t>
            </a:r>
            <a:r>
              <a:rPr lang="en-US" sz="35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p with:</a:t>
            </a: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W</a:t>
            </a:r>
            <a:r>
              <a:rPr lang="en-US" sz="35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ake state</a:t>
            </a: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REM sleep</a:t>
            </a:r>
          </a:p>
          <a:p>
            <a:pPr algn="l" marL="777235" indent="-388618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Deep sleep stages</a:t>
            </a:r>
          </a:p>
          <a:p>
            <a:pPr algn="l">
              <a:lnSpc>
                <a:spcPts val="4559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38124">
            <a:off x="1519400" y="2572847"/>
            <a:ext cx="7551617" cy="7290743"/>
          </a:xfrm>
          <a:custGeom>
            <a:avLst/>
            <a:gdLst/>
            <a:ahLst/>
            <a:cxnLst/>
            <a:rect r="r" b="b" t="t" l="l"/>
            <a:pathLst>
              <a:path h="7290743" w="7551617">
                <a:moveTo>
                  <a:pt x="0" y="0"/>
                </a:moveTo>
                <a:lnTo>
                  <a:pt x="7551616" y="0"/>
                </a:lnTo>
                <a:lnTo>
                  <a:pt x="7551616" y="7290743"/>
                </a:lnTo>
                <a:lnTo>
                  <a:pt x="0" y="7290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25701">
            <a:off x="15786644" y="5934566"/>
            <a:ext cx="7315200" cy="3458095"/>
          </a:xfrm>
          <a:custGeom>
            <a:avLst/>
            <a:gdLst/>
            <a:ahLst/>
            <a:cxnLst/>
            <a:rect r="r" b="b" t="t" l="l"/>
            <a:pathLst>
              <a:path h="3458095" w="7315200">
                <a:moveTo>
                  <a:pt x="0" y="0"/>
                </a:moveTo>
                <a:lnTo>
                  <a:pt x="7315200" y="0"/>
                </a:lnTo>
                <a:lnTo>
                  <a:pt x="7315200" y="3458095"/>
                </a:lnTo>
                <a:lnTo>
                  <a:pt x="0" y="3458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78765">
            <a:off x="10595917" y="3527158"/>
            <a:ext cx="5208343" cy="7784209"/>
          </a:xfrm>
          <a:custGeom>
            <a:avLst/>
            <a:gdLst/>
            <a:ahLst/>
            <a:cxnLst/>
            <a:rect r="r" b="b" t="t" l="l"/>
            <a:pathLst>
              <a:path h="7784209" w="5208343">
                <a:moveTo>
                  <a:pt x="0" y="0"/>
                </a:moveTo>
                <a:lnTo>
                  <a:pt x="5208343" y="0"/>
                </a:lnTo>
                <a:lnTo>
                  <a:pt x="5208343" y="7784209"/>
                </a:lnTo>
                <a:lnTo>
                  <a:pt x="0" y="7784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08093" y="3780000"/>
            <a:ext cx="3369397" cy="2438219"/>
          </a:xfrm>
          <a:custGeom>
            <a:avLst/>
            <a:gdLst/>
            <a:ahLst/>
            <a:cxnLst/>
            <a:rect r="r" b="b" t="t" l="l"/>
            <a:pathLst>
              <a:path h="2438219" w="3369397">
                <a:moveTo>
                  <a:pt x="0" y="0"/>
                </a:moveTo>
                <a:lnTo>
                  <a:pt x="3369398" y="0"/>
                </a:lnTo>
                <a:lnTo>
                  <a:pt x="3369398" y="2438219"/>
                </a:lnTo>
                <a:lnTo>
                  <a:pt x="0" y="24382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3653146"/>
            <a:ext cx="4307310" cy="1642903"/>
          </a:xfrm>
          <a:custGeom>
            <a:avLst/>
            <a:gdLst/>
            <a:ahLst/>
            <a:cxnLst/>
            <a:rect r="r" b="b" t="t" l="l"/>
            <a:pathLst>
              <a:path h="1642903" w="4307310">
                <a:moveTo>
                  <a:pt x="0" y="0"/>
                </a:moveTo>
                <a:lnTo>
                  <a:pt x="4307310" y="0"/>
                </a:lnTo>
                <a:lnTo>
                  <a:pt x="4307310" y="1642903"/>
                </a:lnTo>
                <a:lnTo>
                  <a:pt x="0" y="1642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4461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0509" y="3504817"/>
            <a:ext cx="8172123" cy="2369916"/>
          </a:xfrm>
          <a:custGeom>
            <a:avLst/>
            <a:gdLst/>
            <a:ahLst/>
            <a:cxnLst/>
            <a:rect r="r" b="b" t="t" l="l"/>
            <a:pathLst>
              <a:path h="2369916" w="8172123">
                <a:moveTo>
                  <a:pt x="0" y="0"/>
                </a:moveTo>
                <a:lnTo>
                  <a:pt x="8172123" y="0"/>
                </a:lnTo>
                <a:lnTo>
                  <a:pt x="8172123" y="2369916"/>
                </a:lnTo>
                <a:lnTo>
                  <a:pt x="0" y="23699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46214" y="5358653"/>
            <a:ext cx="4870459" cy="38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ECG (Electrocardiogram)</a:t>
            </a:r>
          </a:p>
          <a:p>
            <a:pPr algn="ctr" marL="604256" indent="-302128" lvl="1">
              <a:lnSpc>
                <a:spcPts val="3358"/>
              </a:lnSpc>
              <a:buFont typeface="Arial"/>
              <a:buChar char="•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aw electrical activity of the heart</a:t>
            </a:r>
          </a:p>
          <a:p>
            <a:pPr algn="ctr" marL="604256" indent="-302128" lvl="1">
              <a:lnSpc>
                <a:spcPts val="3358"/>
              </a:lnSpc>
              <a:buFont typeface="Arial"/>
              <a:buChar char="•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Contains:</a:t>
            </a:r>
          </a:p>
          <a:p>
            <a:pPr algn="ctr" marL="1208511" indent="-402837" lvl="2">
              <a:lnSpc>
                <a:spcPts val="3358"/>
              </a:lnSpc>
              <a:buFont typeface="Arial"/>
              <a:buChar char="⚬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P-wave</a:t>
            </a:r>
          </a:p>
          <a:p>
            <a:pPr algn="ctr" marL="1208511" indent="-402837" lvl="2">
              <a:lnSpc>
                <a:spcPts val="3358"/>
              </a:lnSpc>
              <a:buFont typeface="Arial"/>
              <a:buChar char="⚬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QRS complex</a:t>
            </a:r>
          </a:p>
          <a:p>
            <a:pPr algn="ctr" marL="1208511" indent="-402837" lvl="2">
              <a:lnSpc>
                <a:spcPts val="3358"/>
              </a:lnSpc>
              <a:buFont typeface="Arial"/>
              <a:buChar char="⚬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T-wave</a:t>
            </a:r>
          </a:p>
          <a:p>
            <a:pPr algn="ctr" marL="604256" indent="-302128" lvl="1">
              <a:lnSpc>
                <a:spcPts val="3358"/>
              </a:lnSpc>
              <a:buFont typeface="Arial"/>
              <a:buChar char="•"/>
            </a:pPr>
            <a:r>
              <a:rPr lang="en-US" sz="2798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Rich and detailed signal</a:t>
            </a:r>
          </a:p>
          <a:p>
            <a:pPr algn="ctr">
              <a:lnSpc>
                <a:spcPts val="335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33582" y="6414375"/>
            <a:ext cx="6762208" cy="34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3199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b="true" sz="3199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eart Rate (HR)</a:t>
            </a:r>
          </a:p>
          <a:p>
            <a:pPr algn="ctr" marL="690720" indent="-345360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Derived from ECG</a:t>
            </a:r>
          </a:p>
          <a:p>
            <a:pPr algn="ctr" marL="690720" indent="-345360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Calculated using R-peak detection</a:t>
            </a:r>
          </a:p>
          <a:p>
            <a:pPr algn="ctr" marL="690720" indent="-345360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Represents beats per minute (BPM)</a:t>
            </a:r>
          </a:p>
          <a:p>
            <a:pPr algn="ctr">
              <a:lnSpc>
                <a:spcPts val="38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761645" y="1697007"/>
            <a:ext cx="6764711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ECG VS HE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ART RATE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25701">
            <a:off x="15786644" y="5934566"/>
            <a:ext cx="7315200" cy="3458095"/>
          </a:xfrm>
          <a:custGeom>
            <a:avLst/>
            <a:gdLst/>
            <a:ahLst/>
            <a:cxnLst/>
            <a:rect r="r" b="b" t="t" l="l"/>
            <a:pathLst>
              <a:path h="3458095" w="7315200">
                <a:moveTo>
                  <a:pt x="0" y="0"/>
                </a:moveTo>
                <a:lnTo>
                  <a:pt x="7315200" y="0"/>
                </a:lnTo>
                <a:lnTo>
                  <a:pt x="7315200" y="3458095"/>
                </a:lnTo>
                <a:lnTo>
                  <a:pt x="0" y="3458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78765">
            <a:off x="7729410" y="2627046"/>
            <a:ext cx="5208343" cy="7784209"/>
          </a:xfrm>
          <a:custGeom>
            <a:avLst/>
            <a:gdLst/>
            <a:ahLst/>
            <a:cxnLst/>
            <a:rect r="r" b="b" t="t" l="l"/>
            <a:pathLst>
              <a:path h="7784209" w="5208343">
                <a:moveTo>
                  <a:pt x="0" y="0"/>
                </a:moveTo>
                <a:lnTo>
                  <a:pt x="5208344" y="0"/>
                </a:lnTo>
                <a:lnTo>
                  <a:pt x="5208344" y="7784208"/>
                </a:lnTo>
                <a:lnTo>
                  <a:pt x="0" y="7784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06199" y="2705281"/>
            <a:ext cx="3369397" cy="2438219"/>
          </a:xfrm>
          <a:custGeom>
            <a:avLst/>
            <a:gdLst/>
            <a:ahLst/>
            <a:cxnLst/>
            <a:rect r="r" b="b" t="t" l="l"/>
            <a:pathLst>
              <a:path h="2438219" w="3369397">
                <a:moveTo>
                  <a:pt x="0" y="0"/>
                </a:moveTo>
                <a:lnTo>
                  <a:pt x="3369398" y="0"/>
                </a:lnTo>
                <a:lnTo>
                  <a:pt x="3369398" y="2438219"/>
                </a:lnTo>
                <a:lnTo>
                  <a:pt x="0" y="2438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31299" y="4857750"/>
            <a:ext cx="9151836" cy="14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2"/>
              </a:lnSpc>
            </a:pPr>
            <a:r>
              <a:rPr lang="en-US" sz="7417" b="true">
                <a:solidFill>
                  <a:srgbClr val="C04442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 Extraction</a:t>
            </a: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68924" y="8239125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5" y="0"/>
                </a:lnTo>
                <a:lnTo>
                  <a:pt x="2914625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196795" y="148793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3"/>
                </a:lnTo>
                <a:lnTo>
                  <a:pt x="0" y="8557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0585" y="2135186"/>
            <a:ext cx="9269159" cy="363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3"/>
              </a:lnSpc>
            </a:pPr>
            <a:r>
              <a:rPr lang="en-US" sz="428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XML Parsing Extracts</a:t>
            </a:r>
          </a:p>
          <a:p>
            <a:pPr algn="l" marL="925652" indent="-462826" lvl="1">
              <a:lnSpc>
                <a:spcPts val="5573"/>
              </a:lnSpc>
              <a:buFont typeface="Arial"/>
              <a:buChar char="•"/>
            </a:pPr>
            <a:r>
              <a:rPr lang="en-US" sz="42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42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leep stage label</a:t>
            </a:r>
          </a:p>
          <a:p>
            <a:pPr algn="l" marL="925652" indent="-462826" lvl="1">
              <a:lnSpc>
                <a:spcPts val="5573"/>
              </a:lnSpc>
              <a:buFont typeface="Arial"/>
              <a:buChar char="•"/>
            </a:pPr>
            <a:r>
              <a:rPr lang="en-US" sz="42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Start</a:t>
            </a:r>
            <a:r>
              <a:rPr lang="en-US" sz="42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time</a:t>
            </a:r>
          </a:p>
          <a:p>
            <a:pPr algn="l" marL="925652" indent="-462826" lvl="1">
              <a:lnSpc>
                <a:spcPts val="5573"/>
              </a:lnSpc>
              <a:buFont typeface="Arial"/>
              <a:buChar char="•"/>
            </a:pPr>
            <a:r>
              <a:rPr lang="en-US" sz="42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Duration</a:t>
            </a:r>
          </a:p>
          <a:p>
            <a:pPr algn="l">
              <a:lnSpc>
                <a:spcPts val="55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21308" y="550354"/>
            <a:ext cx="7304928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ANNOTA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TION PARSING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0585" y="6411959"/>
            <a:ext cx="6720639" cy="361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3108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Selected Sleep Stages</a:t>
            </a:r>
          </a:p>
          <a:p>
            <a:pPr algn="l" marL="671148" indent="-335574" lvl="1">
              <a:lnSpc>
                <a:spcPts val="4041"/>
              </a:lnSpc>
              <a:buFont typeface="Arial"/>
              <a:buChar char="•"/>
            </a:pPr>
            <a:r>
              <a:rPr lang="en-US" sz="31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Wake</a:t>
            </a:r>
          </a:p>
          <a:p>
            <a:pPr algn="l" marL="671148" indent="-335574" lvl="1">
              <a:lnSpc>
                <a:spcPts val="4041"/>
              </a:lnSpc>
              <a:buFont typeface="Arial"/>
              <a:buChar char="•"/>
            </a:pPr>
            <a:r>
              <a:rPr lang="en-US" sz="31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N1</a:t>
            </a:r>
          </a:p>
          <a:p>
            <a:pPr algn="l" marL="671148" indent="-335574" lvl="1">
              <a:lnSpc>
                <a:spcPts val="4041"/>
              </a:lnSpc>
              <a:buFont typeface="Arial"/>
              <a:buChar char="•"/>
            </a:pPr>
            <a:r>
              <a:rPr lang="en-US" sz="31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N2</a:t>
            </a:r>
          </a:p>
          <a:p>
            <a:pPr algn="l" marL="671148" indent="-335574" lvl="1">
              <a:lnSpc>
                <a:spcPts val="4041"/>
              </a:lnSpc>
              <a:buFont typeface="Arial"/>
              <a:buChar char="•"/>
            </a:pPr>
            <a:r>
              <a:rPr lang="en-US" sz="31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N3</a:t>
            </a:r>
          </a:p>
          <a:p>
            <a:pPr algn="l" marL="671148" indent="-335574" lvl="1">
              <a:lnSpc>
                <a:spcPts val="4041"/>
              </a:lnSpc>
              <a:buFont typeface="Arial"/>
              <a:buChar char="•"/>
            </a:pPr>
            <a:r>
              <a:rPr lang="en-US" sz="310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REM</a:t>
            </a:r>
          </a:p>
          <a:p>
            <a:pPr algn="l">
              <a:lnSpc>
                <a:spcPts val="4041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20054" y="8409558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92566" y="2016847"/>
            <a:ext cx="15466734" cy="8205340"/>
          </a:xfrm>
          <a:custGeom>
            <a:avLst/>
            <a:gdLst/>
            <a:ahLst/>
            <a:cxnLst/>
            <a:rect r="r" b="b" t="t" l="l"/>
            <a:pathLst>
              <a:path h="8205340" w="15466734">
                <a:moveTo>
                  <a:pt x="0" y="0"/>
                </a:moveTo>
                <a:lnTo>
                  <a:pt x="15466734" y="0"/>
                </a:lnTo>
                <a:lnTo>
                  <a:pt x="15466734" y="8205340"/>
                </a:lnTo>
                <a:lnTo>
                  <a:pt x="0" y="8205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321322" y="6875088"/>
            <a:ext cx="478873" cy="375117"/>
            <a:chOff x="0" y="0"/>
            <a:chExt cx="457200" cy="358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016" y="50016"/>
              <a:ext cx="356707" cy="257324"/>
            </a:xfrm>
            <a:custGeom>
              <a:avLst/>
              <a:gdLst/>
              <a:ahLst/>
              <a:cxnLst/>
              <a:rect r="r" b="b" t="t" l="l"/>
              <a:pathLst>
                <a:path h="257324" w="356707">
                  <a:moveTo>
                    <a:pt x="42694" y="94764"/>
                  </a:moveTo>
                  <a:cubicBezTo>
                    <a:pt x="158264" y="200174"/>
                    <a:pt x="163344" y="192554"/>
                    <a:pt x="174774" y="182394"/>
                  </a:cubicBezTo>
                  <a:cubicBezTo>
                    <a:pt x="205254" y="155724"/>
                    <a:pt x="278914" y="31264"/>
                    <a:pt x="310664" y="9674"/>
                  </a:cubicBezTo>
                  <a:cubicBezTo>
                    <a:pt x="322094" y="2054"/>
                    <a:pt x="332254" y="-1756"/>
                    <a:pt x="339874" y="784"/>
                  </a:cubicBezTo>
                  <a:cubicBezTo>
                    <a:pt x="347494" y="2054"/>
                    <a:pt x="355114" y="12214"/>
                    <a:pt x="356384" y="18564"/>
                  </a:cubicBezTo>
                  <a:cubicBezTo>
                    <a:pt x="357654" y="24914"/>
                    <a:pt x="355114" y="36344"/>
                    <a:pt x="350034" y="41424"/>
                  </a:cubicBezTo>
                  <a:cubicBezTo>
                    <a:pt x="344954" y="46504"/>
                    <a:pt x="334794" y="51584"/>
                    <a:pt x="327174" y="50314"/>
                  </a:cubicBezTo>
                  <a:cubicBezTo>
                    <a:pt x="319554" y="49044"/>
                    <a:pt x="306854" y="35074"/>
                    <a:pt x="305584" y="27454"/>
                  </a:cubicBezTo>
                  <a:cubicBezTo>
                    <a:pt x="304314" y="21104"/>
                    <a:pt x="308124" y="9674"/>
                    <a:pt x="314474" y="5864"/>
                  </a:cubicBezTo>
                  <a:cubicBezTo>
                    <a:pt x="320824" y="784"/>
                    <a:pt x="338604" y="-1756"/>
                    <a:pt x="344954" y="3324"/>
                  </a:cubicBezTo>
                  <a:cubicBezTo>
                    <a:pt x="351304" y="8404"/>
                    <a:pt x="355114" y="24914"/>
                    <a:pt x="351304" y="40154"/>
                  </a:cubicBezTo>
                  <a:cubicBezTo>
                    <a:pt x="341144" y="78254"/>
                    <a:pt x="249704" y="179854"/>
                    <a:pt x="211604" y="216684"/>
                  </a:cubicBezTo>
                  <a:cubicBezTo>
                    <a:pt x="190014" y="237004"/>
                    <a:pt x="174774" y="257324"/>
                    <a:pt x="154454" y="257324"/>
                  </a:cubicBezTo>
                  <a:cubicBezTo>
                    <a:pt x="132864" y="257324"/>
                    <a:pt x="107464" y="231924"/>
                    <a:pt x="84604" y="212874"/>
                  </a:cubicBezTo>
                  <a:cubicBezTo>
                    <a:pt x="56664" y="190014"/>
                    <a:pt x="7134" y="146834"/>
                    <a:pt x="784" y="122704"/>
                  </a:cubicBezTo>
                  <a:cubicBezTo>
                    <a:pt x="-1756" y="110004"/>
                    <a:pt x="2054" y="94764"/>
                    <a:pt x="9674" y="89684"/>
                  </a:cubicBezTo>
                  <a:cubicBezTo>
                    <a:pt x="17294" y="84604"/>
                    <a:pt x="42694" y="94764"/>
                    <a:pt x="42694" y="94764"/>
                  </a:cubicBezTo>
                </a:path>
              </a:pathLst>
            </a:custGeom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266823" y="3301682"/>
            <a:ext cx="898644" cy="905264"/>
            <a:chOff x="0" y="0"/>
            <a:chExt cx="1198192" cy="12070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8192" cy="1207019"/>
            </a:xfrm>
            <a:custGeom>
              <a:avLst/>
              <a:gdLst/>
              <a:ahLst/>
              <a:cxnLst/>
              <a:rect r="r" b="b" t="t" l="l"/>
              <a:pathLst>
                <a:path h="1207019" w="1198192">
                  <a:moveTo>
                    <a:pt x="0" y="0"/>
                  </a:moveTo>
                  <a:lnTo>
                    <a:pt x="1198192" y="0"/>
                  </a:lnTo>
                  <a:lnTo>
                    <a:pt x="1198192" y="1207019"/>
                  </a:lnTo>
                  <a:lnTo>
                    <a:pt x="0" y="1207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368" t="0" r="-368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53196" y="162819"/>
              <a:ext cx="69180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FFFFFF"/>
                  </a:solidFill>
                  <a:latin typeface="Londrina Solid Heavy"/>
                  <a:ea typeface="Londrina Solid Heavy"/>
                  <a:cs typeface="Londrina Solid Heavy"/>
                  <a:sym typeface="Londrina Solid Heavy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10706" y="5079988"/>
            <a:ext cx="10666589" cy="5142199"/>
          </a:xfrm>
          <a:custGeom>
            <a:avLst/>
            <a:gdLst/>
            <a:ahLst/>
            <a:cxnLst/>
            <a:rect r="r" b="b" t="t" l="l"/>
            <a:pathLst>
              <a:path h="5142199" w="10666589">
                <a:moveTo>
                  <a:pt x="0" y="0"/>
                </a:moveTo>
                <a:lnTo>
                  <a:pt x="10666588" y="0"/>
                </a:lnTo>
                <a:lnTo>
                  <a:pt x="10666588" y="5142199"/>
                </a:lnTo>
                <a:lnTo>
                  <a:pt x="0" y="5142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29197" y="1022056"/>
            <a:ext cx="722874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EPOC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H SEGMENTATION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5467" y="2128480"/>
            <a:ext cx="7492778" cy="282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Epoc</a:t>
            </a: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 Length</a:t>
            </a:r>
          </a:p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30-second windows</a:t>
            </a:r>
          </a:p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Why 30 seconds?</a:t>
            </a:r>
          </a:p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Standard sleep scoring protocol</a:t>
            </a:r>
          </a:p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Fixed-length input generation</a:t>
            </a:r>
          </a:p>
          <a:p>
            <a:pPr algn="ctr">
              <a:lnSpc>
                <a:spcPts val="3639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20054" y="8409558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31822" y="3482427"/>
            <a:ext cx="15466734" cy="8205340"/>
          </a:xfrm>
          <a:custGeom>
            <a:avLst/>
            <a:gdLst/>
            <a:ahLst/>
            <a:cxnLst/>
            <a:rect r="r" b="b" t="t" l="l"/>
            <a:pathLst>
              <a:path h="8205340" w="15466734">
                <a:moveTo>
                  <a:pt x="0" y="0"/>
                </a:moveTo>
                <a:lnTo>
                  <a:pt x="15466734" y="0"/>
                </a:lnTo>
                <a:lnTo>
                  <a:pt x="15466734" y="8205340"/>
                </a:lnTo>
                <a:lnTo>
                  <a:pt x="0" y="8205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3463" r="0" b="-2054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9326" y="2622034"/>
            <a:ext cx="970934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Let’s examine how blood flows through the heart.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0481" y="1022056"/>
            <a:ext cx="7123279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FEATUR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1308" y="3755509"/>
            <a:ext cx="13212914" cy="235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4636" indent="-397318" lvl="1">
              <a:lnSpc>
                <a:spcPts val="4784"/>
              </a:lnSpc>
              <a:buFont typeface="Arial"/>
              <a:buChar char="•"/>
            </a:pPr>
            <a:r>
              <a:rPr lang="en-US" b="true" sz="368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Inst</a:t>
            </a:r>
            <a:r>
              <a:rPr lang="en-US" b="true" sz="368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ead of using raw physiol</a:t>
            </a:r>
            <a:r>
              <a:rPr lang="en-US" b="true" sz="368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ogical signals directly, this model f</a:t>
            </a:r>
            <a:r>
              <a:rPr lang="en-US" b="true" sz="368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irst converts each signal segment into handcrafted statistical features.</a:t>
            </a:r>
            <a:r>
              <a:rPr lang="en-US" sz="368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algn="ctr">
              <a:lnSpc>
                <a:spcPts val="374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21308" y="6258046"/>
            <a:ext cx="5713595" cy="391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41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this step exists?</a:t>
            </a:r>
          </a:p>
          <a:p>
            <a:pPr algn="ctr">
              <a:lnSpc>
                <a:spcPts val="3143"/>
              </a:lnSpc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Raw</a:t>
            </a: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signals are:</a:t>
            </a:r>
          </a:p>
          <a:p>
            <a:pPr algn="ctr" marL="1044187" indent="-348062" lvl="2">
              <a:lnSpc>
                <a:spcPts val="3143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High dimensional</a:t>
            </a:r>
          </a:p>
          <a:p>
            <a:pPr algn="ctr" marL="1044187" indent="-348062" lvl="2">
              <a:lnSpc>
                <a:spcPts val="3143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Noisy</a:t>
            </a:r>
          </a:p>
          <a:p>
            <a:pPr algn="ctr" marL="522094" indent="-261047" lvl="1">
              <a:lnSpc>
                <a:spcPts val="3143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Comp</a:t>
            </a: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utationally heavy</a:t>
            </a:r>
          </a:p>
          <a:p>
            <a:pPr algn="ctr">
              <a:lnSpc>
                <a:spcPts val="3143"/>
              </a:lnSpc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Feature extraction:</a:t>
            </a:r>
          </a:p>
          <a:p>
            <a:pPr algn="ctr" marL="1044187" indent="-348062" lvl="2">
              <a:lnSpc>
                <a:spcPts val="3143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Compresses information</a:t>
            </a:r>
          </a:p>
          <a:p>
            <a:pPr algn="ctr" marL="1044187" indent="-348062" lvl="2">
              <a:lnSpc>
                <a:spcPts val="3143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K</a:t>
            </a: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eeps physiological meaning</a:t>
            </a:r>
          </a:p>
          <a:p>
            <a:pPr algn="ctr" marL="1044187" indent="-348062" lvl="2">
              <a:lnSpc>
                <a:spcPts val="3143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Improves learning stability</a:t>
            </a:r>
          </a:p>
          <a:p>
            <a:pPr algn="ctr">
              <a:lnSpc>
                <a:spcPts val="2198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4580" y="2400112"/>
            <a:ext cx="7616341" cy="305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2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Ph</a:t>
            </a:r>
            <a:r>
              <a:rPr lang="en-US" b="true" sz="3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ysiological interpretation:</a:t>
            </a:r>
          </a:p>
          <a:p>
            <a:pPr algn="l" marL="647698" indent="-323849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Sleep stages affect: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heart stability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variability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autonomic nervous system activity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84580" y="5952684"/>
            <a:ext cx="7616341" cy="241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</a:pPr>
            <a:r>
              <a:rPr lang="en-US" sz="3522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</a:t>
            </a:r>
            <a:r>
              <a:rPr lang="en-US" b="true" sz="352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xample:</a:t>
            </a:r>
          </a:p>
          <a:p>
            <a:pPr algn="l" marL="760596" indent="-380298" lvl="1">
              <a:lnSpc>
                <a:spcPts val="4579"/>
              </a:lnSpc>
              <a:buFont typeface="Arial"/>
              <a:buChar char="•"/>
            </a:pPr>
            <a:r>
              <a:rPr lang="en-US" sz="352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Deep sleep → low variability</a:t>
            </a:r>
          </a:p>
          <a:p>
            <a:pPr algn="l" marL="760596" indent="-380298" lvl="1">
              <a:lnSpc>
                <a:spcPts val="4579"/>
              </a:lnSpc>
              <a:buFont typeface="Arial"/>
              <a:buChar char="•"/>
            </a:pPr>
            <a:r>
              <a:rPr lang="en-US" sz="352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REM → high variability</a:t>
            </a:r>
          </a:p>
          <a:p>
            <a:pPr algn="l">
              <a:lnSpc>
                <a:spcPts val="45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840" y="518599"/>
            <a:ext cx="7467302" cy="71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85"/>
              </a:lnSpc>
            </a:pPr>
            <a:r>
              <a:rPr lang="en-US" b="true" sz="4811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WHY THESE FEATURES MATTER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13525" y="2905859"/>
            <a:ext cx="8978104" cy="3598981"/>
          </a:xfrm>
          <a:custGeom>
            <a:avLst/>
            <a:gdLst/>
            <a:ahLst/>
            <a:cxnLst/>
            <a:rect r="r" b="b" t="t" l="l"/>
            <a:pathLst>
              <a:path h="3598981" w="8978104">
                <a:moveTo>
                  <a:pt x="0" y="0"/>
                </a:moveTo>
                <a:lnTo>
                  <a:pt x="8978105" y="0"/>
                </a:lnTo>
                <a:lnTo>
                  <a:pt x="8978105" y="3598982"/>
                </a:lnTo>
                <a:lnTo>
                  <a:pt x="0" y="35989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5492" y="781428"/>
            <a:ext cx="10185671" cy="132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66"/>
              </a:lnSpc>
            </a:pPr>
            <a:r>
              <a:rPr lang="en-US" b="true" sz="9005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DATA SPLIT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51" y="3022101"/>
            <a:ext cx="9709190" cy="204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395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We Splittd Data to:</a:t>
            </a:r>
          </a:p>
          <a:p>
            <a:pPr algn="l">
              <a:lnSpc>
                <a:spcPts val="5139"/>
              </a:lnSpc>
            </a:pPr>
          </a:p>
          <a:p>
            <a:pPr algn="l">
              <a:lnSpc>
                <a:spcPts val="5139"/>
              </a:lnSpc>
            </a:pPr>
            <a:r>
              <a:rPr lang="en-US" sz="395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(70%, 15%, 15%)</a:t>
            </a:r>
          </a:p>
        </p:txBody>
      </p:sp>
    </p:spTree>
  </p:cSld>
  <p:clrMapOvr>
    <a:masterClrMapping/>
  </p:clrMapOvr>
  <p:transition spd="fast">
    <p:cover dir="d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13566" y="1028700"/>
            <a:ext cx="9235526" cy="1604755"/>
          </a:xfrm>
          <a:custGeom>
            <a:avLst/>
            <a:gdLst/>
            <a:ahLst/>
            <a:cxnLst/>
            <a:rect r="r" b="b" t="t" l="l"/>
            <a:pathLst>
              <a:path h="1604755" w="9235526">
                <a:moveTo>
                  <a:pt x="0" y="0"/>
                </a:moveTo>
                <a:lnTo>
                  <a:pt x="9235526" y="0"/>
                </a:lnTo>
                <a:lnTo>
                  <a:pt x="9235526" y="1604755"/>
                </a:lnTo>
                <a:lnTo>
                  <a:pt x="0" y="1604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860549"/>
            <a:ext cx="7723083" cy="5840987"/>
          </a:xfrm>
          <a:custGeom>
            <a:avLst/>
            <a:gdLst/>
            <a:ahLst/>
            <a:cxnLst/>
            <a:rect r="r" b="b" t="t" l="l"/>
            <a:pathLst>
              <a:path h="5840987" w="7723083">
                <a:moveTo>
                  <a:pt x="0" y="0"/>
                </a:moveTo>
                <a:lnTo>
                  <a:pt x="7723083" y="0"/>
                </a:lnTo>
                <a:lnTo>
                  <a:pt x="7723083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5492" y="781428"/>
            <a:ext cx="10185671" cy="132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66"/>
              </a:lnSpc>
            </a:pPr>
            <a:r>
              <a:rPr lang="en-US" b="true" sz="9005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NORMALIZATION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51" y="3022101"/>
            <a:ext cx="9709190" cy="334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9"/>
              </a:lnSpc>
            </a:pPr>
          </a:p>
          <a:p>
            <a:pPr algn="l">
              <a:lnSpc>
                <a:spcPts val="5139"/>
              </a:lnSpc>
            </a:pPr>
            <a:r>
              <a:rPr lang="en-US" sz="395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Each feature becomes:</a:t>
            </a:r>
          </a:p>
          <a:p>
            <a:pPr algn="l" marL="853512" indent="-426756" lvl="1">
              <a:lnSpc>
                <a:spcPts val="5139"/>
              </a:lnSpc>
              <a:buFont typeface="Arial"/>
              <a:buChar char="•"/>
            </a:pPr>
            <a:r>
              <a:rPr lang="en-US" b="true" sz="395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centered around 0</a:t>
            </a:r>
          </a:p>
          <a:p>
            <a:pPr algn="l" marL="853512" indent="-426756" lvl="1">
              <a:lnSpc>
                <a:spcPts val="5139"/>
              </a:lnSpc>
              <a:buFont typeface="Arial"/>
              <a:buChar char="•"/>
            </a:pPr>
            <a:r>
              <a:rPr lang="en-US" b="true" sz="395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with standard deviation ≈ 1</a:t>
            </a:r>
          </a:p>
          <a:p>
            <a:pPr algn="l">
              <a:lnSpc>
                <a:spcPts val="5139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0225" y="2022669"/>
            <a:ext cx="14687550" cy="5973568"/>
            <a:chOff x="0" y="0"/>
            <a:chExt cx="19583400" cy="79647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17700" y="7240858"/>
              <a:ext cx="15748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525"/>
              <a:ext cx="19583400" cy="6315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BiGRU Model </a:t>
              </a:r>
            </a:p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“Bidirectional Gated Recurrent Unit”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216868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8404" y="419867"/>
            <a:ext cx="6181021" cy="120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31"/>
              </a:lnSpc>
            </a:pPr>
            <a:r>
              <a:rPr lang="en-US" b="true" sz="8185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BIGRU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431" y="1929808"/>
            <a:ext cx="12562672" cy="287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907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Bi (Bi</a:t>
            </a:r>
            <a:r>
              <a:rPr lang="en-US" b="true" sz="290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directional)</a:t>
            </a:r>
          </a:p>
          <a:p>
            <a:pPr algn="l">
              <a:lnSpc>
                <a:spcPts val="4560"/>
              </a:lnSpc>
            </a:pP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Means the m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odel reads 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sequenc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in 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two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directions:</a:t>
            </a:r>
          </a:p>
          <a:p>
            <a:pPr algn="l" marL="757338" indent="-378669" lvl="1">
              <a:lnSpc>
                <a:spcPts val="4560"/>
              </a:lnSpc>
              <a:buFont typeface="Arial"/>
              <a:buChar char="•"/>
            </a:pP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Forward → past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→ present</a:t>
            </a:r>
          </a:p>
          <a:p>
            <a:pPr algn="l" marL="757338" indent="-378669" lvl="1">
              <a:lnSpc>
                <a:spcPts val="4560"/>
              </a:lnSpc>
              <a:buFont typeface="Arial"/>
              <a:buChar char="•"/>
            </a:pP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</a:t>
            </a:r>
            <a:r>
              <a:rPr lang="en-US" sz="350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ackward → future → present</a:t>
            </a:r>
          </a:p>
          <a:p>
            <a:pPr algn="l">
              <a:lnSpc>
                <a:spcPts val="491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4431" y="5048250"/>
            <a:ext cx="9491574" cy="29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835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GRU “</a:t>
            </a:r>
            <a:r>
              <a:rPr lang="en-US" sz="2835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Gated</a:t>
            </a:r>
            <a:r>
              <a:rPr lang="en-US" sz="2835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Recur</a:t>
            </a:r>
            <a:r>
              <a:rPr lang="en-US" b="true" sz="283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rent Unit”</a:t>
            </a:r>
          </a:p>
          <a:p>
            <a:pPr algn="l" marL="612078" indent="-306039" lvl="1">
              <a:lnSpc>
                <a:spcPts val="3685"/>
              </a:lnSpc>
              <a:buFont typeface="Arial"/>
              <a:buChar char="•"/>
            </a:pP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</a:t>
            </a: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type of Recurrent Neural Network</a:t>
            </a: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(RNN)</a:t>
            </a:r>
          </a:p>
          <a:p>
            <a:pPr algn="l" marL="612078" indent="-306039" lvl="1">
              <a:lnSpc>
                <a:spcPts val="3685"/>
              </a:lnSpc>
              <a:buFont typeface="Arial"/>
              <a:buChar char="•"/>
            </a:pP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Designed to learn from sequential</a:t>
            </a: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/ time-series data</a:t>
            </a:r>
          </a:p>
          <a:p>
            <a:pPr algn="l" marL="612078" indent="-306039" lvl="1">
              <a:lnSpc>
                <a:spcPts val="3685"/>
              </a:lnSpc>
              <a:buFont typeface="Arial"/>
              <a:buChar char="•"/>
            </a:pP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283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as a “memory” to remember previous time steps</a:t>
            </a:r>
          </a:p>
          <a:p>
            <a:pPr algn="l">
              <a:lnSpc>
                <a:spcPts val="4708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216868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7683" y="3756820"/>
            <a:ext cx="8289101" cy="489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ach signal is converted into an 8-dimensional feature vector: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Mean → baseline physiological level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Standard deviation → variability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Range → amplitude spread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RMSSD →</a:t>
            </a:r>
            <a:r>
              <a:rPr lang="en-US" b="true" sz="21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Root Mean Square of Successive Differences</a:t>
            </a:r>
          </a:p>
          <a:p>
            <a:pPr algn="l">
              <a:lnSpc>
                <a:spcPts val="2746"/>
              </a:lnSpc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“</a:t>
            </a: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heart rate variability (very important for sleep)”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MAD → </a:t>
            </a:r>
            <a:r>
              <a:rPr lang="en-US" b="true" sz="21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Mean Absolute Difference </a:t>
            </a:r>
          </a:p>
          <a:p>
            <a:pPr algn="l">
              <a:lnSpc>
                <a:spcPts val="2746"/>
              </a:lnSpc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“Average size of changes between consecutive points”</a:t>
            </a:r>
          </a:p>
          <a:p>
            <a:pPr algn="l">
              <a:lnSpc>
                <a:spcPts val="2746"/>
              </a:lnSpc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_High MAD → more irregular activity (often REM or wake)</a:t>
            </a:r>
          </a:p>
          <a:p>
            <a:pPr algn="l">
              <a:lnSpc>
                <a:spcPts val="2746"/>
              </a:lnSpc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_</a:t>
            </a: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Low MAD → stable sleep (deep sleep)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Energy → signal intensity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Skewness → distribution asymmetry</a:t>
            </a:r>
          </a:p>
          <a:p>
            <a:pPr algn="l" marL="456060" indent="-228030" lvl="1">
              <a:lnSpc>
                <a:spcPts val="2746"/>
              </a:lnSpc>
              <a:buFont typeface="Arial"/>
              <a:buChar char="•"/>
            </a:pPr>
            <a:r>
              <a:rPr lang="en-US" sz="211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Slope → overall trend</a:t>
            </a:r>
          </a:p>
          <a:p>
            <a:pPr algn="l">
              <a:lnSpc>
                <a:spcPts val="306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21308" y="787073"/>
            <a:ext cx="6181021" cy="238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31"/>
              </a:lnSpc>
            </a:pPr>
            <a:r>
              <a:rPr lang="en-US" b="true" sz="8185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EXTRA</a:t>
            </a:r>
            <a:r>
              <a:rPr lang="en-US" b="true" sz="8185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CTED FEATURES</a:t>
            </a:r>
          </a:p>
        </p:txBody>
      </p:sp>
    </p:spTree>
  </p:cSld>
  <p:clrMapOvr>
    <a:masterClrMapping/>
  </p:clrMapOvr>
  <p:transition spd="fast">
    <p:cover dir="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236" y="7146811"/>
            <a:ext cx="11104294" cy="466853"/>
          </a:xfrm>
          <a:custGeom>
            <a:avLst/>
            <a:gdLst/>
            <a:ahLst/>
            <a:cxnLst/>
            <a:rect r="r" b="b" t="t" l="l"/>
            <a:pathLst>
              <a:path h="466853" w="11104294">
                <a:moveTo>
                  <a:pt x="0" y="0"/>
                </a:moveTo>
                <a:lnTo>
                  <a:pt x="11104294" y="0"/>
                </a:lnTo>
                <a:lnTo>
                  <a:pt x="11104294" y="466853"/>
                </a:lnTo>
                <a:lnTo>
                  <a:pt x="0" y="4668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908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5271" y="2681191"/>
            <a:ext cx="6897058" cy="280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9436" indent="-359718" lvl="1">
              <a:lnSpc>
                <a:spcPts val="4331"/>
              </a:lnSpc>
              <a:buAutoNum type="arabicPeriod" startAt="1"/>
            </a:pPr>
            <a:r>
              <a:rPr lang="en-US" sz="333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Physiological data is NOT easy </a:t>
            </a:r>
          </a:p>
          <a:p>
            <a:pPr algn="l" marL="719436" indent="-359718" lvl="1">
              <a:lnSpc>
                <a:spcPts val="4331"/>
              </a:lnSpc>
              <a:buAutoNum type="arabicPeriod" startAt="1"/>
            </a:pPr>
            <a:r>
              <a:rPr lang="en-US" sz="333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Class weights preserve real distribution</a:t>
            </a:r>
          </a:p>
          <a:p>
            <a:pPr algn="l" marL="719436" indent="-359718" lvl="1">
              <a:lnSpc>
                <a:spcPts val="4331"/>
              </a:lnSpc>
              <a:buAutoNum type="arabicPeriod" startAt="1"/>
            </a:pPr>
            <a:r>
              <a:rPr lang="en-US" sz="333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Better for sequence models (GRU)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1136" y="608349"/>
            <a:ext cx="7962837" cy="183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7"/>
              </a:lnSpc>
            </a:pPr>
            <a:r>
              <a:rPr lang="en-US" b="true" sz="6278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USING CLASS WEIGHTS INSTEAD OF AUGMENTATION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70879" y="1878481"/>
            <a:ext cx="5925774" cy="4938145"/>
          </a:xfrm>
          <a:custGeom>
            <a:avLst/>
            <a:gdLst/>
            <a:ahLst/>
            <a:cxnLst/>
            <a:rect r="r" b="b" t="t" l="l"/>
            <a:pathLst>
              <a:path h="4938145" w="5925774">
                <a:moveTo>
                  <a:pt x="0" y="0"/>
                </a:moveTo>
                <a:lnTo>
                  <a:pt x="5925774" y="0"/>
                </a:lnTo>
                <a:lnTo>
                  <a:pt x="5925774" y="4938145"/>
                </a:lnTo>
                <a:lnTo>
                  <a:pt x="0" y="49381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617" y="4705350"/>
            <a:ext cx="6375637" cy="1638184"/>
          </a:xfrm>
          <a:custGeom>
            <a:avLst/>
            <a:gdLst/>
            <a:ahLst/>
            <a:cxnLst/>
            <a:rect r="r" b="b" t="t" l="l"/>
            <a:pathLst>
              <a:path h="1638184" w="6375637">
                <a:moveTo>
                  <a:pt x="0" y="0"/>
                </a:moveTo>
                <a:lnTo>
                  <a:pt x="6375636" y="0"/>
                </a:lnTo>
                <a:lnTo>
                  <a:pt x="6375636" y="1638184"/>
                </a:lnTo>
                <a:lnTo>
                  <a:pt x="0" y="1638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0617" y="6816626"/>
            <a:ext cx="6375637" cy="2324563"/>
          </a:xfrm>
          <a:custGeom>
            <a:avLst/>
            <a:gdLst/>
            <a:ahLst/>
            <a:cxnLst/>
            <a:rect r="r" b="b" t="t" l="l"/>
            <a:pathLst>
              <a:path h="2324563" w="6375637">
                <a:moveTo>
                  <a:pt x="0" y="0"/>
                </a:moveTo>
                <a:lnTo>
                  <a:pt x="6375636" y="0"/>
                </a:lnTo>
                <a:lnTo>
                  <a:pt x="6375636" y="2324563"/>
                </a:lnTo>
                <a:lnTo>
                  <a:pt x="0" y="23245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95" t="-30894" r="0" b="-3089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5271" y="2681191"/>
            <a:ext cx="6897058" cy="17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33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332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nstead of treating each sample independently, this model builds temporal sequences.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7014" y="1066800"/>
            <a:ext cx="8624810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S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EQUENCE CONSTRUCTION</a:t>
            </a:r>
          </a:p>
        </p:txBody>
      </p:sp>
    </p:spTree>
  </p:cSld>
  <p:clrMapOvr>
    <a:masterClrMapping/>
  </p:clrMapOvr>
  <p:transition spd="fast">
    <p:cover dir="d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8171">
            <a:off x="-695725" y="-266968"/>
            <a:ext cx="5434068" cy="3784087"/>
          </a:xfrm>
          <a:custGeom>
            <a:avLst/>
            <a:gdLst/>
            <a:ahLst/>
            <a:cxnLst/>
            <a:rect r="r" b="b" t="t" l="l"/>
            <a:pathLst>
              <a:path h="3784087" w="5434068">
                <a:moveTo>
                  <a:pt x="0" y="0"/>
                </a:moveTo>
                <a:lnTo>
                  <a:pt x="5434067" y="0"/>
                </a:lnTo>
                <a:lnTo>
                  <a:pt x="5434067" y="3784087"/>
                </a:lnTo>
                <a:lnTo>
                  <a:pt x="0" y="378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6253" y="8062432"/>
            <a:ext cx="2914626" cy="3278209"/>
          </a:xfrm>
          <a:custGeom>
            <a:avLst/>
            <a:gdLst/>
            <a:ahLst/>
            <a:cxnLst/>
            <a:rect r="r" b="b" t="t" l="l"/>
            <a:pathLst>
              <a:path h="3278209" w="2914626">
                <a:moveTo>
                  <a:pt x="0" y="0"/>
                </a:moveTo>
                <a:lnTo>
                  <a:pt x="2914626" y="0"/>
                </a:lnTo>
                <a:lnTo>
                  <a:pt x="2914626" y="3278209"/>
                </a:lnTo>
                <a:lnTo>
                  <a:pt x="0" y="3278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009017" y="1090951"/>
            <a:ext cx="13604521" cy="9671578"/>
          </a:xfrm>
          <a:custGeom>
            <a:avLst/>
            <a:gdLst/>
            <a:ahLst/>
            <a:cxnLst/>
            <a:rect r="r" b="b" t="t" l="l"/>
            <a:pathLst>
              <a:path h="9671578" w="13604521">
                <a:moveTo>
                  <a:pt x="0" y="0"/>
                </a:moveTo>
                <a:lnTo>
                  <a:pt x="13604521" y="0"/>
                </a:lnTo>
                <a:lnTo>
                  <a:pt x="13604521" y="9671578"/>
                </a:lnTo>
                <a:lnTo>
                  <a:pt x="0" y="9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95187">
            <a:off x="10694604" y="4773267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5" y="0"/>
                </a:lnTo>
                <a:lnTo>
                  <a:pt x="5693245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172" y="3916965"/>
            <a:ext cx="7122894" cy="304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62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Sle</a:t>
            </a:r>
            <a:r>
              <a:rPr lang="en-US" b="true" sz="262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ep is NOT independent per sample.</a:t>
            </a:r>
          </a:p>
          <a:p>
            <a:pPr algn="l">
              <a:lnSpc>
                <a:spcPts val="3411"/>
              </a:lnSpc>
            </a:pPr>
            <a:r>
              <a:rPr lang="en-US" b="true" sz="262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Sleep is</a:t>
            </a: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</a:t>
            </a:r>
          </a:p>
          <a:p>
            <a:pPr algn="l" marL="566507" indent="-283254" lvl="1">
              <a:lnSpc>
                <a:spcPts val="3411"/>
              </a:lnSpc>
              <a:buFont typeface="Arial"/>
              <a:buChar char="•"/>
            </a:pP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Continuous</a:t>
            </a:r>
          </a:p>
          <a:p>
            <a:pPr algn="l" marL="566507" indent="-283254" lvl="1">
              <a:lnSpc>
                <a:spcPts val="3411"/>
              </a:lnSpc>
              <a:buFont typeface="Arial"/>
              <a:buChar char="•"/>
            </a:pP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Transition-based</a:t>
            </a:r>
          </a:p>
          <a:p>
            <a:pPr algn="l" marL="566507" indent="-283254" lvl="1">
              <a:lnSpc>
                <a:spcPts val="3411"/>
              </a:lnSpc>
              <a:buFont typeface="Arial"/>
              <a:buChar char="•"/>
            </a:pP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Time-dependent</a:t>
            </a:r>
          </a:p>
          <a:p>
            <a:pPr algn="l">
              <a:lnSpc>
                <a:spcPts val="3411"/>
              </a:lnSpc>
            </a:pP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Example:</a:t>
            </a:r>
          </a:p>
          <a:p>
            <a:pPr algn="l">
              <a:lnSpc>
                <a:spcPts val="3411"/>
              </a:lnSpc>
            </a:pPr>
            <a:r>
              <a:rPr lang="en-US" sz="262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Wake → N1 → N2 → REM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4172" y="7438838"/>
            <a:ext cx="4907297" cy="323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b="true" sz="318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Therefore</a:t>
            </a:r>
            <a:r>
              <a:rPr lang="en-US" sz="31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:</a:t>
            </a:r>
          </a:p>
          <a:p>
            <a:pPr algn="l">
              <a:lnSpc>
                <a:spcPts val="4143"/>
              </a:lnSpc>
            </a:pPr>
            <a:r>
              <a:rPr lang="en-US" b="true" sz="318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This model learns:</a:t>
            </a:r>
          </a:p>
          <a:p>
            <a:pPr algn="l" marL="688100" indent="-344050" lvl="1">
              <a:lnSpc>
                <a:spcPts val="4143"/>
              </a:lnSpc>
              <a:buFont typeface="Arial"/>
              <a:buChar char="•"/>
            </a:pPr>
            <a:r>
              <a:rPr lang="en-US" sz="31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transitions</a:t>
            </a:r>
          </a:p>
          <a:p>
            <a:pPr algn="l" marL="688100" indent="-344050" lvl="1">
              <a:lnSpc>
                <a:spcPts val="4143"/>
              </a:lnSpc>
              <a:buFont typeface="Arial"/>
              <a:buChar char="•"/>
            </a:pPr>
            <a:r>
              <a:rPr lang="en-US" sz="31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temporal patterns</a:t>
            </a:r>
          </a:p>
          <a:p>
            <a:pPr algn="l" marL="688100" indent="-344050" lvl="1">
              <a:lnSpc>
                <a:spcPts val="4143"/>
              </a:lnSpc>
              <a:buFont typeface="Arial"/>
              <a:buChar char="•"/>
            </a:pPr>
            <a:r>
              <a:rPr lang="en-US" sz="318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stage evolution</a:t>
            </a:r>
          </a:p>
          <a:p>
            <a:pPr algn="l">
              <a:lnSpc>
                <a:spcPts val="414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6748" y="1076325"/>
            <a:ext cx="9754131" cy="233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85"/>
              </a:lnSpc>
            </a:pPr>
            <a:r>
              <a:rPr lang="en-US" b="true" sz="8057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WHY SEQU</a:t>
            </a:r>
            <a:r>
              <a:rPr lang="en-US" b="true" sz="8057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ENTIAL MODELING IS NEEDED</a:t>
            </a:r>
          </a:p>
        </p:txBody>
      </p:sp>
    </p:spTree>
  </p:cSld>
  <p:clrMapOvr>
    <a:masterClrMapping/>
  </p:clrMapOvr>
  <p:transition spd="fast">
    <p:cover dir="d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0225" y="2022669"/>
            <a:ext cx="14687550" cy="5973568"/>
            <a:chOff x="0" y="0"/>
            <a:chExt cx="19583400" cy="79647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17700" y="7240858"/>
              <a:ext cx="15748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525"/>
              <a:ext cx="19583400" cy="6315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CNN Mode</a:t>
              </a:r>
              <a:r>
                <a:rPr lang="en-US" sz="10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 vs BiGRU Model (Core Difference)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8953500"/>
            <a:chOff x="0" y="0"/>
            <a:chExt cx="219255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2339524"/>
                  </a:lnTo>
                  <a:cubicBezTo>
                    <a:pt x="2192553" y="2344457"/>
                    <a:pt x="2190594" y="2349188"/>
                    <a:pt x="2187105" y="2352676"/>
                  </a:cubicBezTo>
                  <a:cubicBezTo>
                    <a:pt x="2183617" y="2356164"/>
                    <a:pt x="2178887" y="2358124"/>
                    <a:pt x="2173954" y="2358124"/>
                  </a:cubicBezTo>
                  <a:lnTo>
                    <a:pt x="18600" y="2358124"/>
                  </a:lnTo>
                  <a:cubicBezTo>
                    <a:pt x="13667" y="2358124"/>
                    <a:pt x="8936" y="2356164"/>
                    <a:pt x="5448" y="2352676"/>
                  </a:cubicBezTo>
                  <a:cubicBezTo>
                    <a:pt x="1960" y="2349188"/>
                    <a:pt x="0" y="2344457"/>
                    <a:pt x="0" y="23395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solidFill>
              <a:srgbClr val="C044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255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8324850" cy="8953500"/>
            <a:chOff x="0" y="0"/>
            <a:chExt cx="219255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2339524"/>
                  </a:lnTo>
                  <a:cubicBezTo>
                    <a:pt x="2192553" y="2344457"/>
                    <a:pt x="2190594" y="2349188"/>
                    <a:pt x="2187105" y="2352676"/>
                  </a:cubicBezTo>
                  <a:cubicBezTo>
                    <a:pt x="2183617" y="2356164"/>
                    <a:pt x="2178887" y="2358124"/>
                    <a:pt x="2173954" y="2358124"/>
                  </a:cubicBezTo>
                  <a:lnTo>
                    <a:pt x="18600" y="2358124"/>
                  </a:lnTo>
                  <a:cubicBezTo>
                    <a:pt x="13667" y="2358124"/>
                    <a:pt x="8936" y="2356164"/>
                    <a:pt x="5448" y="2352676"/>
                  </a:cubicBezTo>
                  <a:cubicBezTo>
                    <a:pt x="1960" y="2349188"/>
                    <a:pt x="0" y="2344457"/>
                    <a:pt x="0" y="23395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solidFill>
              <a:srgbClr val="C044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255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5535" y="-6766"/>
            <a:ext cx="8361300" cy="9321898"/>
            <a:chOff x="0" y="0"/>
            <a:chExt cx="11148400" cy="1242919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525"/>
              <a:ext cx="11148400" cy="220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5"/>
                </a:lnSpc>
              </a:pPr>
              <a:r>
                <a:rPr lang="en-US" sz="547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CNN + D</a:t>
              </a:r>
              <a:r>
                <a:rPr lang="en-US" sz="547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ep CNN Model (First Model)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36652" y="2400910"/>
              <a:ext cx="8993061" cy="1002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8"/>
                </a:lnSpc>
              </a:pPr>
              <a:r>
                <a:rPr lang="en-US" sz="3536" b="true">
                  <a:solidFill>
                    <a:srgbClr val="FFF8E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“Learns from “how the signal looks”</a:t>
              </a:r>
            </a:p>
            <a:p>
              <a:pPr algn="ctr">
                <a:lnSpc>
                  <a:spcPts val="4598"/>
                </a:lnSpc>
              </a:pPr>
            </a:p>
            <a:p>
              <a:pPr algn="ctr">
                <a:lnSpc>
                  <a:spcPts val="4598"/>
                </a:lnSpc>
              </a:pPr>
              <a:r>
                <a:rPr lang="en-US" sz="353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</a:t>
              </a:r>
              <a:r>
                <a:rPr lang="en-US" b="true" sz="353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put</a:t>
              </a:r>
              <a:r>
                <a:rPr lang="en-US" sz="353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Raw signal</a:t>
              </a:r>
            </a:p>
            <a:p>
              <a:pPr algn="ctr">
                <a:lnSpc>
                  <a:spcPts val="4720"/>
                </a:lnSpc>
              </a:pPr>
              <a:r>
                <a:rPr lang="en-US" b="true" sz="363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Architecture</a:t>
              </a:r>
              <a:r>
                <a:rPr lang="en-US" sz="363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Conv1D layers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MaxPooling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Dense layers</a:t>
              </a:r>
            </a:p>
            <a:p>
              <a:pPr algn="ctr">
                <a:lnSpc>
                  <a:spcPts val="4843"/>
                </a:lnSpc>
              </a:pPr>
              <a:r>
                <a:rPr lang="en-US" b="true" sz="372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it learns: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Local patterns in waveform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Shape-based features</a:t>
              </a:r>
            </a:p>
            <a:p>
              <a:pPr algn="ctr" marL="661642" indent="-330821" lvl="1">
                <a:lnSpc>
                  <a:spcPts val="3983"/>
                </a:lnSpc>
                <a:buFont typeface="Arial"/>
                <a:buChar char="•"/>
              </a:pPr>
              <a:r>
                <a:rPr lang="en-US" sz="306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Short-range dependencies</a:t>
              </a:r>
            </a:p>
            <a:p>
              <a:pPr algn="ctr">
                <a:lnSpc>
                  <a:spcPts val="398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00979" y="-199177"/>
            <a:ext cx="9435349" cy="9080027"/>
            <a:chOff x="0" y="0"/>
            <a:chExt cx="12580465" cy="121067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12580465" cy="3461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89"/>
                </a:lnSpc>
              </a:pPr>
              <a:r>
                <a:rPr lang="en-US" sz="857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</a:t>
              </a:r>
              <a:r>
                <a:rPr lang="en-US" sz="857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iGRU Feature-Based Model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48591" y="3800348"/>
              <a:ext cx="10017860" cy="8306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37"/>
                </a:lnSpc>
              </a:pPr>
              <a:r>
                <a:rPr lang="en-US" sz="341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Learns from “how signal behavior changes over time”</a:t>
              </a:r>
            </a:p>
            <a:p>
              <a:pPr algn="ctr">
                <a:lnSpc>
                  <a:spcPts val="4437"/>
                </a:lnSpc>
              </a:pPr>
            </a:p>
            <a:p>
              <a:pPr algn="ctr">
                <a:lnSpc>
                  <a:spcPts val="4437"/>
                </a:lnSpc>
              </a:pPr>
              <a:r>
                <a:rPr lang="en-US" sz="3413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Input</a:t>
              </a:r>
              <a:r>
                <a:rPr lang="en-US" sz="341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andcrafted statistical features</a:t>
              </a:r>
            </a:p>
            <a:p>
              <a:pPr algn="ctr">
                <a:lnSpc>
                  <a:spcPts val="4021"/>
                </a:lnSpc>
              </a:pPr>
              <a:r>
                <a:rPr lang="en-US" b="true" sz="309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Architecture: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Bidirectional GRU layers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Dense layers</a:t>
              </a:r>
            </a:p>
            <a:p>
              <a:pPr algn="ctr">
                <a:lnSpc>
                  <a:spcPts val="4576"/>
                </a:lnSpc>
              </a:pPr>
              <a:r>
                <a:rPr lang="en-US" b="true" sz="352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it learns: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Temporal evolution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Feature transitions</a:t>
              </a:r>
            </a:p>
            <a:p>
              <a:pPr algn="ctr" marL="552783" indent="-276391" lvl="1">
                <a:lnSpc>
                  <a:spcPts val="3328"/>
                </a:lnSpc>
                <a:buFont typeface="Arial"/>
                <a:buChar char="•"/>
              </a:pPr>
              <a:r>
                <a:rPr lang="en-US" sz="256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Long-range dependencies</a:t>
              </a:r>
            </a:p>
            <a:p>
              <a:pPr algn="ctr">
                <a:lnSpc>
                  <a:spcPts val="3328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62225"/>
            <a:ext cx="8401923" cy="672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44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GRU advantages: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Designed for sequential 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ata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Captures memory over time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Efficient compared to LSTM</a:t>
            </a:r>
          </a:p>
          <a:p>
            <a:pPr algn="l">
              <a:lnSpc>
                <a:spcPts val="6092"/>
              </a:lnSpc>
            </a:pPr>
            <a:r>
              <a:rPr lang="en-US" sz="46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not CNN here?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CNN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i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atial/l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cal patt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-ba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ed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This model needs temporal memory, not just local patterns</a:t>
            </a:r>
          </a:p>
          <a:p>
            <a:pPr algn="l">
              <a:lnSpc>
                <a:spcPts val="505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WHY GRU INSTEAD 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OF CNN HERE?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79130" y="4013717"/>
            <a:ext cx="8767936" cy="1817189"/>
          </a:xfrm>
          <a:custGeom>
            <a:avLst/>
            <a:gdLst/>
            <a:ahLst/>
            <a:cxnLst/>
            <a:rect r="r" b="b" t="t" l="l"/>
            <a:pathLst>
              <a:path h="1817189" w="8767936">
                <a:moveTo>
                  <a:pt x="0" y="0"/>
                </a:moveTo>
                <a:lnTo>
                  <a:pt x="8767937" y="0"/>
                </a:lnTo>
                <a:lnTo>
                  <a:pt x="8767937" y="1817189"/>
                </a:lnTo>
                <a:lnTo>
                  <a:pt x="0" y="1817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90800"/>
            <a:ext cx="8401923" cy="354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idirectional GRU Concept</a:t>
            </a:r>
          </a:p>
          <a:p>
            <a:pPr algn="l" marL="925405" indent="-462702" lvl="1">
              <a:lnSpc>
                <a:spcPts val="5572"/>
              </a:lnSpc>
              <a:buFont typeface="Arial"/>
              <a:buChar char="•"/>
            </a:pPr>
            <a:r>
              <a:rPr lang="en-US" sz="42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Uses past + future context</a:t>
            </a:r>
          </a:p>
          <a:p>
            <a:pPr algn="l" marL="925405" indent="-462702" lvl="1">
              <a:lnSpc>
                <a:spcPts val="5572"/>
              </a:lnSpc>
              <a:buFont typeface="Arial"/>
              <a:buChar char="•"/>
            </a:pPr>
            <a:r>
              <a:rPr lang="en-US" sz="42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Sleep stages depend on surrounding states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WHY GRU INSTEAD 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OF CNN HERE?</a:t>
            </a:r>
          </a:p>
        </p:txBody>
      </p:sp>
    </p:spTree>
  </p:cSld>
  <p:clrMapOvr>
    <a:masterClrMapping/>
  </p:clrMapOvr>
  <p:transition spd="fast">
    <p:cover dir="d"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0225" y="3613344"/>
            <a:ext cx="1468755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Layers</a:t>
            </a:r>
          </a:p>
        </p:txBody>
      </p:sp>
    </p:spTree>
  </p:cSld>
  <p:clrMapOvr>
    <a:masterClrMapping/>
  </p:clrMapOvr>
  <p:transition spd="fast">
    <p:cover dir="d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7450" y="3825437"/>
            <a:ext cx="10022692" cy="975660"/>
          </a:xfrm>
          <a:custGeom>
            <a:avLst/>
            <a:gdLst/>
            <a:ahLst/>
            <a:cxnLst/>
            <a:rect r="r" b="b" t="t" l="l"/>
            <a:pathLst>
              <a:path h="975660" w="10022692">
                <a:moveTo>
                  <a:pt x="0" y="0"/>
                </a:moveTo>
                <a:lnTo>
                  <a:pt x="10022692" y="0"/>
                </a:lnTo>
                <a:lnTo>
                  <a:pt x="10022692" y="975660"/>
                </a:lnTo>
                <a:lnTo>
                  <a:pt x="0" y="97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41099" y="5143500"/>
            <a:ext cx="5493037" cy="1400909"/>
          </a:xfrm>
          <a:custGeom>
            <a:avLst/>
            <a:gdLst/>
            <a:ahLst/>
            <a:cxnLst/>
            <a:rect r="r" b="b" t="t" l="l"/>
            <a:pathLst>
              <a:path h="1400909" w="5493037">
                <a:moveTo>
                  <a:pt x="0" y="0"/>
                </a:moveTo>
                <a:lnTo>
                  <a:pt x="5493037" y="0"/>
                </a:lnTo>
                <a:lnTo>
                  <a:pt x="5493037" y="1400909"/>
                </a:lnTo>
                <a:lnTo>
                  <a:pt x="0" y="14009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90800"/>
            <a:ext cx="8401923" cy="526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Pu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rpose: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Defines the inpu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 shape of the model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Organizes data into sequences of 15 epochs × 8 features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Enables learning of temporal 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sleep patterns and transitions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INPUT LAYER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266886"/>
            <a:ext cx="9144000" cy="1271280"/>
          </a:xfrm>
          <a:custGeom>
            <a:avLst/>
            <a:gdLst/>
            <a:ahLst/>
            <a:cxnLst/>
            <a:rect r="r" b="b" t="t" l="l"/>
            <a:pathLst>
              <a:path h="1271280" w="9144000">
                <a:moveTo>
                  <a:pt x="0" y="0"/>
                </a:moveTo>
                <a:lnTo>
                  <a:pt x="9144000" y="0"/>
                </a:lnTo>
                <a:lnTo>
                  <a:pt x="9144000" y="1271280"/>
                </a:lnTo>
                <a:lnTo>
                  <a:pt x="0" y="1271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86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90800"/>
            <a:ext cx="8401923" cy="398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Pu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rpose: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Extract full temporal sequence representation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Keep 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sequence structure for next layer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FIRST GRU LAY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39751" y="5538488"/>
            <a:ext cx="9220443" cy="1520216"/>
          </a:xfrm>
          <a:custGeom>
            <a:avLst/>
            <a:gdLst/>
            <a:ahLst/>
            <a:cxnLst/>
            <a:rect r="r" b="b" t="t" l="l"/>
            <a:pathLst>
              <a:path h="1520216" w="9220443">
                <a:moveTo>
                  <a:pt x="0" y="0"/>
                </a:moveTo>
                <a:lnTo>
                  <a:pt x="9220443" y="0"/>
                </a:lnTo>
                <a:lnTo>
                  <a:pt x="9220443" y="1520216"/>
                </a:lnTo>
                <a:lnTo>
                  <a:pt x="0" y="1520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71750"/>
            <a:ext cx="8401923" cy="3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2"/>
              </a:lnSpc>
            </a:pPr>
            <a:r>
              <a:rPr lang="en-US" sz="41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Purpose: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Compre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ss sequence into single representation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Prepare for classification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SECOND GRU LAY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31295" y="3899320"/>
            <a:ext cx="9056705" cy="1576673"/>
          </a:xfrm>
          <a:custGeom>
            <a:avLst/>
            <a:gdLst/>
            <a:ahLst/>
            <a:cxnLst/>
            <a:rect r="r" b="b" t="t" l="l"/>
            <a:pathLst>
              <a:path h="1576673" w="9056705">
                <a:moveTo>
                  <a:pt x="0" y="0"/>
                </a:moveTo>
                <a:lnTo>
                  <a:pt x="9056705" y="0"/>
                </a:lnTo>
                <a:lnTo>
                  <a:pt x="9056705" y="1576674"/>
                </a:lnTo>
                <a:lnTo>
                  <a:pt x="0" y="1576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71750"/>
            <a:ext cx="8401923" cy="406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42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Purpose: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 nonline</a:t>
            </a: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ar relationships between features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Improve classification separability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DENSE LAY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79130" y="4013717"/>
            <a:ext cx="8767936" cy="1817189"/>
          </a:xfrm>
          <a:custGeom>
            <a:avLst/>
            <a:gdLst/>
            <a:ahLst/>
            <a:cxnLst/>
            <a:rect r="r" b="b" t="t" l="l"/>
            <a:pathLst>
              <a:path h="1817189" w="8767936">
                <a:moveTo>
                  <a:pt x="0" y="0"/>
                </a:moveTo>
                <a:lnTo>
                  <a:pt x="8767937" y="0"/>
                </a:lnTo>
                <a:lnTo>
                  <a:pt x="8767937" y="1817189"/>
                </a:lnTo>
                <a:lnTo>
                  <a:pt x="0" y="1817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2077" y="1804351"/>
            <a:ext cx="8401923" cy="354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idirectional GRU Concept</a:t>
            </a:r>
          </a:p>
          <a:p>
            <a:pPr algn="l" marL="925405" indent="-462702" lvl="1">
              <a:lnSpc>
                <a:spcPts val="5572"/>
              </a:lnSpc>
              <a:buFont typeface="Arial"/>
              <a:buChar char="•"/>
            </a:pPr>
            <a:r>
              <a:rPr lang="en-US" sz="42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Uses past + future context</a:t>
            </a:r>
          </a:p>
          <a:p>
            <a:pPr algn="l" marL="925405" indent="-462702" lvl="1">
              <a:lnSpc>
                <a:spcPts val="5572"/>
              </a:lnSpc>
              <a:buFont typeface="Arial"/>
              <a:buChar char="•"/>
            </a:pPr>
            <a:r>
              <a:rPr lang="en-US" sz="42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Sleep stages depend on surrounding states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WHY GRU INSTEAD 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OF CNN HERE?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00625"/>
            <a:ext cx="8401923" cy="526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Regular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ization Strategy</a:t>
            </a:r>
          </a:p>
          <a:p>
            <a:pPr algn="l">
              <a:lnSpc>
                <a:spcPts val="5052"/>
              </a:lnSpc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Batch Normalization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Stabilizes learning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Reduce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 internal covariate shift</a:t>
            </a:r>
          </a:p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Dropout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Prevents overfitting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Forc</a:t>
            </a:r>
            <a:r>
              <a:rPr lang="en-US" sz="388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es robust feature learning</a:t>
            </a:r>
          </a:p>
          <a:p>
            <a:pPr algn="l">
              <a:lnSpc>
                <a:spcPts val="5572"/>
              </a:lnSpc>
            </a:pPr>
          </a:p>
        </p:txBody>
      </p:sp>
    </p:spTree>
  </p:cSld>
  <p:clrMapOvr>
    <a:masterClrMapping/>
  </p:clrMapOvr>
  <p:transition spd="fast">
    <p:cover dir="d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0827" y="5143500"/>
            <a:ext cx="5693246" cy="6578330"/>
          </a:xfrm>
          <a:custGeom>
            <a:avLst/>
            <a:gdLst/>
            <a:ahLst/>
            <a:cxnLst/>
            <a:rect r="r" b="b" t="t" l="l"/>
            <a:pathLst>
              <a:path h="6578330" w="5693246">
                <a:moveTo>
                  <a:pt x="0" y="0"/>
                </a:moveTo>
                <a:lnTo>
                  <a:pt x="5693246" y="0"/>
                </a:lnTo>
                <a:lnTo>
                  <a:pt x="5693246" y="6578330"/>
                </a:lnTo>
                <a:lnTo>
                  <a:pt x="0" y="6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7450" y="4671801"/>
            <a:ext cx="9087810" cy="1975611"/>
          </a:xfrm>
          <a:custGeom>
            <a:avLst/>
            <a:gdLst/>
            <a:ahLst/>
            <a:cxnLst/>
            <a:rect r="r" b="b" t="t" l="l"/>
            <a:pathLst>
              <a:path h="1975611" w="9087810">
                <a:moveTo>
                  <a:pt x="0" y="0"/>
                </a:moveTo>
                <a:lnTo>
                  <a:pt x="9087810" y="0"/>
                </a:lnTo>
                <a:lnTo>
                  <a:pt x="9087810" y="1975611"/>
                </a:lnTo>
                <a:lnTo>
                  <a:pt x="0" y="1975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90800"/>
            <a:ext cx="8401923" cy="271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  <a:r>
              <a:rPr lang="en-US" sz="3886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eaning: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sleep stages</a:t>
            </a:r>
          </a:p>
          <a:p>
            <a:pPr algn="l" marL="839047" indent="-419523" lvl="1">
              <a:lnSpc>
                <a:spcPts val="5052"/>
              </a:lnSpc>
              <a:buFont typeface="Arial"/>
              <a:buChar char="•"/>
            </a:pPr>
            <a:r>
              <a:rPr lang="en-US" b="true" sz="388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Probability distribution output</a:t>
            </a:r>
          </a:p>
          <a:p>
            <a:pPr algn="l">
              <a:lnSpc>
                <a:spcPts val="557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0611" y="550354"/>
            <a:ext cx="1092382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OUTPUT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LAYER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889557" y="502822"/>
            <a:ext cx="13564747" cy="9643302"/>
          </a:xfrm>
          <a:custGeom>
            <a:avLst/>
            <a:gdLst/>
            <a:ahLst/>
            <a:cxnLst/>
            <a:rect r="r" b="b" t="t" l="l"/>
            <a:pathLst>
              <a:path h="9643302" w="13564747">
                <a:moveTo>
                  <a:pt x="0" y="0"/>
                </a:moveTo>
                <a:lnTo>
                  <a:pt x="13564748" y="0"/>
                </a:lnTo>
                <a:lnTo>
                  <a:pt x="13564748" y="9643302"/>
                </a:lnTo>
                <a:lnTo>
                  <a:pt x="0" y="9643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16789" y="3689601"/>
            <a:ext cx="9139234" cy="1285748"/>
          </a:xfrm>
          <a:custGeom>
            <a:avLst/>
            <a:gdLst/>
            <a:ahLst/>
            <a:cxnLst/>
            <a:rect r="r" b="b" t="t" l="l"/>
            <a:pathLst>
              <a:path h="1285748" w="9139234">
                <a:moveTo>
                  <a:pt x="0" y="0"/>
                </a:moveTo>
                <a:lnTo>
                  <a:pt x="9139234" y="0"/>
                </a:lnTo>
                <a:lnTo>
                  <a:pt x="9139234" y="1285748"/>
                </a:lnTo>
                <a:lnTo>
                  <a:pt x="0" y="128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5471" y="956415"/>
            <a:ext cx="549241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L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OSS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6475" y="4394967"/>
            <a:ext cx="7797525" cy="256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8"/>
              </a:lnSpc>
              <a:spcBef>
                <a:spcPct val="0"/>
              </a:spcBef>
            </a:pPr>
            <a:r>
              <a:rPr lang="en-US" b="true" sz="4206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</a:t>
            </a:r>
            <a:r>
              <a:rPr lang="en-US" b="true" sz="4206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hy?</a:t>
            </a:r>
          </a:p>
          <a:p>
            <a:pPr algn="l" marL="778691" indent="-389345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606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Multi-class classification</a:t>
            </a:r>
          </a:p>
          <a:p>
            <a:pPr algn="l" marL="778691" indent="-389345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606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Works with integer labels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cover dir="d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889557" y="502822"/>
            <a:ext cx="13564747" cy="9643302"/>
          </a:xfrm>
          <a:custGeom>
            <a:avLst/>
            <a:gdLst/>
            <a:ahLst/>
            <a:cxnLst/>
            <a:rect r="r" b="b" t="t" l="l"/>
            <a:pathLst>
              <a:path h="9643302" w="13564747">
                <a:moveTo>
                  <a:pt x="0" y="0"/>
                </a:moveTo>
                <a:lnTo>
                  <a:pt x="13564748" y="0"/>
                </a:lnTo>
                <a:lnTo>
                  <a:pt x="13564748" y="9643302"/>
                </a:lnTo>
                <a:lnTo>
                  <a:pt x="0" y="9643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230133"/>
            <a:ext cx="8800832" cy="1326759"/>
          </a:xfrm>
          <a:custGeom>
            <a:avLst/>
            <a:gdLst/>
            <a:ahLst/>
            <a:cxnLst/>
            <a:rect r="r" b="b" t="t" l="l"/>
            <a:pathLst>
              <a:path h="1326759" w="8800832">
                <a:moveTo>
                  <a:pt x="0" y="0"/>
                </a:moveTo>
                <a:lnTo>
                  <a:pt x="8800832" y="0"/>
                </a:lnTo>
                <a:lnTo>
                  <a:pt x="8800832" y="1326759"/>
                </a:lnTo>
                <a:lnTo>
                  <a:pt x="0" y="1326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5471" y="956415"/>
            <a:ext cx="5492416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LEARNING RATE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6475" y="4394967"/>
            <a:ext cx="7797525" cy="79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8"/>
              </a:lnSpc>
              <a:spcBef>
                <a:spcPct val="0"/>
              </a:spcBef>
            </a:pPr>
            <a:r>
              <a:rPr lang="en-US" sz="420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0.0015</a:t>
            </a:r>
          </a:p>
        </p:txBody>
      </p:sp>
    </p:spTree>
  </p:cSld>
  <p:clrMapOvr>
    <a:masterClrMapping/>
  </p:clrMapOvr>
  <p:transition spd="fast">
    <p:cover dir="d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2235" y="-750585"/>
            <a:ext cx="3421871" cy="4145438"/>
          </a:xfrm>
          <a:custGeom>
            <a:avLst/>
            <a:gdLst/>
            <a:ahLst/>
            <a:cxnLst/>
            <a:rect r="r" b="b" t="t" l="l"/>
            <a:pathLst>
              <a:path h="4145438" w="3421871">
                <a:moveTo>
                  <a:pt x="0" y="0"/>
                </a:moveTo>
                <a:lnTo>
                  <a:pt x="3421870" y="0"/>
                </a:lnTo>
                <a:lnTo>
                  <a:pt x="3421870" y="4145438"/>
                </a:lnTo>
                <a:lnTo>
                  <a:pt x="0" y="4145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48104" y="6674305"/>
            <a:ext cx="4882020" cy="3612695"/>
          </a:xfrm>
          <a:custGeom>
            <a:avLst/>
            <a:gdLst/>
            <a:ahLst/>
            <a:cxnLst/>
            <a:rect r="r" b="b" t="t" l="l"/>
            <a:pathLst>
              <a:path h="3612695" w="4882020">
                <a:moveTo>
                  <a:pt x="0" y="0"/>
                </a:moveTo>
                <a:lnTo>
                  <a:pt x="4882020" y="0"/>
                </a:lnTo>
                <a:lnTo>
                  <a:pt x="4882020" y="3612695"/>
                </a:lnTo>
                <a:lnTo>
                  <a:pt x="0" y="3612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02329" y="3394853"/>
            <a:ext cx="9537486" cy="804032"/>
          </a:xfrm>
          <a:custGeom>
            <a:avLst/>
            <a:gdLst/>
            <a:ahLst/>
            <a:cxnLst/>
            <a:rect r="r" b="b" t="t" l="l"/>
            <a:pathLst>
              <a:path h="804032" w="9537486">
                <a:moveTo>
                  <a:pt x="0" y="0"/>
                </a:moveTo>
                <a:lnTo>
                  <a:pt x="9537486" y="0"/>
                </a:lnTo>
                <a:lnTo>
                  <a:pt x="9537486" y="804032"/>
                </a:lnTo>
                <a:lnTo>
                  <a:pt x="0" y="8040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6508" y="4400788"/>
            <a:ext cx="6485821" cy="390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</a:t>
            </a:r>
            <a:r>
              <a:rPr lang="en-US" b="true" sz="4099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hy Adam?</a:t>
            </a:r>
          </a:p>
          <a:p>
            <a:pPr algn="l" marL="647698" indent="-323849" lvl="1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Adaptive learning rate</a:t>
            </a:r>
          </a:p>
          <a:p>
            <a:pPr algn="l" marL="647698" indent="-323849" lvl="1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Stable convergence</a:t>
            </a:r>
          </a:p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4199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Gradient clipping:</a:t>
            </a:r>
          </a:p>
          <a:p>
            <a:pPr algn="l" marL="647698" indent="-323849" lvl="1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Prevents instability in GRU training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47579" y="843788"/>
            <a:ext cx="513615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OPTIMIZER</a:t>
            </a:r>
          </a:p>
        </p:txBody>
      </p:sp>
    </p:spTree>
  </p:cSld>
  <p:clrMapOvr>
    <a:masterClrMapping/>
  </p:clrMapOvr>
  <p:transition spd="fast">
    <p:cover dir="d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2235" y="-750585"/>
            <a:ext cx="3421871" cy="4145438"/>
          </a:xfrm>
          <a:custGeom>
            <a:avLst/>
            <a:gdLst/>
            <a:ahLst/>
            <a:cxnLst/>
            <a:rect r="r" b="b" t="t" l="l"/>
            <a:pathLst>
              <a:path h="4145438" w="3421871">
                <a:moveTo>
                  <a:pt x="0" y="0"/>
                </a:moveTo>
                <a:lnTo>
                  <a:pt x="3421870" y="0"/>
                </a:lnTo>
                <a:lnTo>
                  <a:pt x="3421870" y="4145438"/>
                </a:lnTo>
                <a:lnTo>
                  <a:pt x="0" y="4145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48104" y="6674305"/>
            <a:ext cx="4882020" cy="3612695"/>
          </a:xfrm>
          <a:custGeom>
            <a:avLst/>
            <a:gdLst/>
            <a:ahLst/>
            <a:cxnLst/>
            <a:rect r="r" b="b" t="t" l="l"/>
            <a:pathLst>
              <a:path h="3612695" w="4882020">
                <a:moveTo>
                  <a:pt x="0" y="0"/>
                </a:moveTo>
                <a:lnTo>
                  <a:pt x="4882020" y="0"/>
                </a:lnTo>
                <a:lnTo>
                  <a:pt x="4882020" y="3612695"/>
                </a:lnTo>
                <a:lnTo>
                  <a:pt x="0" y="3612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349070" y="864524"/>
            <a:ext cx="12038041" cy="8557953"/>
          </a:xfrm>
          <a:custGeom>
            <a:avLst/>
            <a:gdLst/>
            <a:ahLst/>
            <a:cxnLst/>
            <a:rect r="r" b="b" t="t" l="l"/>
            <a:pathLst>
              <a:path h="8557953" w="12038041">
                <a:moveTo>
                  <a:pt x="0" y="0"/>
                </a:moveTo>
                <a:lnTo>
                  <a:pt x="12038041" y="0"/>
                </a:lnTo>
                <a:lnTo>
                  <a:pt x="12038041" y="8557952"/>
                </a:lnTo>
                <a:lnTo>
                  <a:pt x="0" y="8557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25204" y="2460977"/>
            <a:ext cx="5363117" cy="4922668"/>
          </a:xfrm>
          <a:custGeom>
            <a:avLst/>
            <a:gdLst/>
            <a:ahLst/>
            <a:cxnLst/>
            <a:rect r="r" b="b" t="t" l="l"/>
            <a:pathLst>
              <a:path h="4922668" w="5363117">
                <a:moveTo>
                  <a:pt x="0" y="0"/>
                </a:moveTo>
                <a:lnTo>
                  <a:pt x="5363117" y="0"/>
                </a:lnTo>
                <a:lnTo>
                  <a:pt x="5363117" y="4922668"/>
                </a:lnTo>
                <a:lnTo>
                  <a:pt x="0" y="49226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932" y="3144112"/>
            <a:ext cx="6485821" cy="533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3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</a:t>
            </a:r>
            <a:r>
              <a:rPr lang="en-US" b="true" sz="4099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del is forced to pay </a:t>
            </a:r>
            <a:r>
              <a:rPr lang="en-US" b="true" sz="4099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attention </a:t>
            </a:r>
            <a:r>
              <a:rPr lang="en-US" b="true" sz="4099" strike="noStrike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to minority classes that it has less numbers of data than other according to the weights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47579" y="843788"/>
            <a:ext cx="9265009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CLASS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IMBALANCE HANDLING</a:t>
            </a:r>
          </a:p>
        </p:txBody>
      </p:sp>
    </p:spTree>
  </p:cSld>
  <p:clrMapOvr>
    <a:masterClrMapping/>
  </p:clrMapOvr>
  <p:transition spd="fast">
    <p:cover dir="d"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201" y="3179906"/>
            <a:ext cx="17106613" cy="5944548"/>
          </a:xfrm>
          <a:custGeom>
            <a:avLst/>
            <a:gdLst/>
            <a:ahLst/>
            <a:cxnLst/>
            <a:rect r="r" b="b" t="t" l="l"/>
            <a:pathLst>
              <a:path h="5944548" w="17106613">
                <a:moveTo>
                  <a:pt x="0" y="0"/>
                </a:moveTo>
                <a:lnTo>
                  <a:pt x="17106613" y="0"/>
                </a:lnTo>
                <a:lnTo>
                  <a:pt x="17106613" y="5944548"/>
                </a:lnTo>
                <a:lnTo>
                  <a:pt x="0" y="5944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3445" y="1022056"/>
            <a:ext cx="12256877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FINA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L EVALUATION RESULTS</a:t>
            </a:r>
          </a:p>
        </p:txBody>
      </p:sp>
    </p:spTree>
  </p:cSld>
  <p:clrMapOvr>
    <a:masterClrMapping/>
  </p:clrMapOvr>
  <p:transition spd="fast">
    <p:cover dir="d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46433" y="2631865"/>
            <a:ext cx="9830901" cy="746956"/>
          </a:xfrm>
          <a:custGeom>
            <a:avLst/>
            <a:gdLst/>
            <a:ahLst/>
            <a:cxnLst/>
            <a:rect r="r" b="b" t="t" l="l"/>
            <a:pathLst>
              <a:path h="746956" w="9830901">
                <a:moveTo>
                  <a:pt x="0" y="0"/>
                </a:moveTo>
                <a:lnTo>
                  <a:pt x="9830902" y="0"/>
                </a:lnTo>
                <a:lnTo>
                  <a:pt x="9830902" y="746956"/>
                </a:lnTo>
                <a:lnTo>
                  <a:pt x="0" y="746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61039" y="3378821"/>
            <a:ext cx="12142685" cy="6299382"/>
          </a:xfrm>
          <a:custGeom>
            <a:avLst/>
            <a:gdLst/>
            <a:ahLst/>
            <a:cxnLst/>
            <a:rect r="r" b="b" t="t" l="l"/>
            <a:pathLst>
              <a:path h="6299382" w="12142685">
                <a:moveTo>
                  <a:pt x="0" y="0"/>
                </a:moveTo>
                <a:lnTo>
                  <a:pt x="12142685" y="0"/>
                </a:lnTo>
                <a:lnTo>
                  <a:pt x="12142685" y="6299382"/>
                </a:lnTo>
                <a:lnTo>
                  <a:pt x="0" y="62993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12" r="0" b="-161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3445" y="1022056"/>
            <a:ext cx="12256877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FINA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L EVALUATION RESULTS</a:t>
            </a:r>
          </a:p>
        </p:txBody>
      </p:sp>
    </p:spTree>
  </p:cSld>
  <p:clrMapOvr>
    <a:masterClrMapping/>
  </p:clrMapOvr>
  <p:transition spd="fast">
    <p:cover dir="d"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7786">
            <a:off x="293684" y="-1877490"/>
            <a:ext cx="3043573" cy="5812379"/>
          </a:xfrm>
          <a:custGeom>
            <a:avLst/>
            <a:gdLst/>
            <a:ahLst/>
            <a:cxnLst/>
            <a:rect r="r" b="b" t="t" l="l"/>
            <a:pathLst>
              <a:path h="5812379" w="3043573">
                <a:moveTo>
                  <a:pt x="0" y="0"/>
                </a:moveTo>
                <a:lnTo>
                  <a:pt x="3043573" y="0"/>
                </a:lnTo>
                <a:lnTo>
                  <a:pt x="3043573" y="5812380"/>
                </a:lnTo>
                <a:lnTo>
                  <a:pt x="0" y="581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47202" y="2276899"/>
            <a:ext cx="9030762" cy="7532574"/>
          </a:xfrm>
          <a:custGeom>
            <a:avLst/>
            <a:gdLst/>
            <a:ahLst/>
            <a:cxnLst/>
            <a:rect r="r" b="b" t="t" l="l"/>
            <a:pathLst>
              <a:path h="7532574" w="9030762">
                <a:moveTo>
                  <a:pt x="0" y="0"/>
                </a:moveTo>
                <a:lnTo>
                  <a:pt x="9030762" y="0"/>
                </a:lnTo>
                <a:lnTo>
                  <a:pt x="9030762" y="7532574"/>
                </a:lnTo>
                <a:lnTo>
                  <a:pt x="0" y="753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8" r="0" b="-1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33445" y="1022056"/>
            <a:ext cx="12256877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FINA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L EVALUATION RESULTS</a:t>
            </a:r>
          </a:p>
        </p:txBody>
      </p:sp>
    </p:spTree>
  </p:cSld>
  <p:clrMapOvr>
    <a:masterClrMapping/>
  </p:clrMapOvr>
  <p:transition spd="fast">
    <p:cover dir="d"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5325" y="-408783"/>
            <a:ext cx="4587733" cy="5557826"/>
          </a:xfrm>
          <a:custGeom>
            <a:avLst/>
            <a:gdLst/>
            <a:ahLst/>
            <a:cxnLst/>
            <a:rect r="r" b="b" t="t" l="l"/>
            <a:pathLst>
              <a:path h="5557826" w="4587733">
                <a:moveTo>
                  <a:pt x="0" y="0"/>
                </a:moveTo>
                <a:lnTo>
                  <a:pt x="4587733" y="0"/>
                </a:lnTo>
                <a:lnTo>
                  <a:pt x="4587733" y="5557826"/>
                </a:lnTo>
                <a:lnTo>
                  <a:pt x="0" y="5557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3257026"/>
            <a:ext cx="9922201" cy="5002177"/>
          </a:xfrm>
          <a:custGeom>
            <a:avLst/>
            <a:gdLst/>
            <a:ahLst/>
            <a:cxnLst/>
            <a:rect r="r" b="b" t="t" l="l"/>
            <a:pathLst>
              <a:path h="5002177" w="9922201">
                <a:moveTo>
                  <a:pt x="0" y="0"/>
                </a:moveTo>
                <a:lnTo>
                  <a:pt x="9922201" y="0"/>
                </a:lnTo>
                <a:lnTo>
                  <a:pt x="9922201" y="5002178"/>
                </a:lnTo>
                <a:lnTo>
                  <a:pt x="0" y="50021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399" r="0" b="-216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993" y="3824829"/>
            <a:ext cx="8711532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Reason</a:t>
            </a:r>
            <a:r>
              <a:rPr lang="en-US" sz="3999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Compare raw-signal learning vs feature-based learning</a:t>
            </a: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Benefit: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GRU captures high-level physiological dynamics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5282488">
            <a:off x="13919687" y="4130222"/>
            <a:ext cx="5414609" cy="9893804"/>
          </a:xfrm>
          <a:custGeom>
            <a:avLst/>
            <a:gdLst/>
            <a:ahLst/>
            <a:cxnLst/>
            <a:rect r="r" b="b" t="t" l="l"/>
            <a:pathLst>
              <a:path h="9893804" w="5414609">
                <a:moveTo>
                  <a:pt x="0" y="0"/>
                </a:moveTo>
                <a:lnTo>
                  <a:pt x="5414609" y="0"/>
                </a:lnTo>
                <a:lnTo>
                  <a:pt x="5414609" y="9893805"/>
                </a:lnTo>
                <a:lnTo>
                  <a:pt x="0" y="989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99445" y="4172392"/>
            <a:ext cx="3127547" cy="2263206"/>
          </a:xfrm>
          <a:custGeom>
            <a:avLst/>
            <a:gdLst/>
            <a:ahLst/>
            <a:cxnLst/>
            <a:rect r="r" b="b" t="t" l="l"/>
            <a:pathLst>
              <a:path h="2263206" w="3127547">
                <a:moveTo>
                  <a:pt x="0" y="0"/>
                </a:moveTo>
                <a:lnTo>
                  <a:pt x="3127547" y="0"/>
                </a:lnTo>
                <a:lnTo>
                  <a:pt x="3127547" y="2263206"/>
                </a:lnTo>
                <a:lnTo>
                  <a:pt x="0" y="2263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8542" y="1375339"/>
            <a:ext cx="1304274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WH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Y TWO MODELS WERE USED</a:t>
            </a:r>
          </a:p>
        </p:txBody>
      </p:sp>
    </p:spTree>
  </p:cSld>
  <p:clrMapOvr>
    <a:masterClrMapping/>
  </p:clrMapOvr>
  <p:transition spd="fast">
    <p:cover dir="d"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5325" y="-408783"/>
            <a:ext cx="4587733" cy="5557826"/>
          </a:xfrm>
          <a:custGeom>
            <a:avLst/>
            <a:gdLst/>
            <a:ahLst/>
            <a:cxnLst/>
            <a:rect r="r" b="b" t="t" l="l"/>
            <a:pathLst>
              <a:path h="5557826" w="4587733">
                <a:moveTo>
                  <a:pt x="0" y="0"/>
                </a:moveTo>
                <a:lnTo>
                  <a:pt x="4587733" y="0"/>
                </a:lnTo>
                <a:lnTo>
                  <a:pt x="4587733" y="5557826"/>
                </a:lnTo>
                <a:lnTo>
                  <a:pt x="0" y="5557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3257026"/>
            <a:ext cx="9922201" cy="5002177"/>
          </a:xfrm>
          <a:custGeom>
            <a:avLst/>
            <a:gdLst/>
            <a:ahLst/>
            <a:cxnLst/>
            <a:rect r="r" b="b" t="t" l="l"/>
            <a:pathLst>
              <a:path h="5002177" w="9922201">
                <a:moveTo>
                  <a:pt x="0" y="0"/>
                </a:moveTo>
                <a:lnTo>
                  <a:pt x="9922201" y="0"/>
                </a:lnTo>
                <a:lnTo>
                  <a:pt x="9922201" y="5002178"/>
                </a:lnTo>
                <a:lnTo>
                  <a:pt x="0" y="50021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399" r="0" b="-2161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993" y="3862929"/>
            <a:ext cx="8789303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50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Combined understanding</a:t>
            </a:r>
            <a:r>
              <a:rPr lang="en-US" sz="2850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:</a:t>
            </a:r>
          </a:p>
          <a:p>
            <a:pPr algn="l" marL="615490" indent="-307745" lvl="1">
              <a:lnSpc>
                <a:spcPts val="3420"/>
              </a:lnSpc>
              <a:buFont typeface="Arial"/>
              <a:buChar char="•"/>
            </a:pPr>
            <a:r>
              <a:rPr lang="en-US" b="true" sz="2850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CNN model:</a:t>
            </a:r>
          </a:p>
          <a:p>
            <a:pPr algn="l" marL="1230980" indent="-410327" lvl="2">
              <a:lnSpc>
                <a:spcPts val="3420"/>
              </a:lnSpc>
              <a:buFont typeface="Arial"/>
              <a:buChar char="⚬"/>
            </a:pPr>
            <a:r>
              <a:rPr lang="en-US" sz="285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extracts fe</a:t>
            </a:r>
            <a:r>
              <a:rPr lang="en-US" sz="285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atures automatically</a:t>
            </a:r>
          </a:p>
          <a:p>
            <a:pPr algn="l" marL="615490" indent="-307745" lvl="1">
              <a:lnSpc>
                <a:spcPts val="3420"/>
              </a:lnSpc>
              <a:buFont typeface="Arial"/>
              <a:buChar char="•"/>
            </a:pPr>
            <a:r>
              <a:rPr lang="en-US" b="true" sz="2850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GRU model:</a:t>
            </a:r>
          </a:p>
          <a:p>
            <a:pPr algn="l" marL="1230980" indent="-410327" lvl="2">
              <a:lnSpc>
                <a:spcPts val="3420"/>
              </a:lnSpc>
              <a:buFont typeface="Arial"/>
              <a:buChar char="⚬"/>
            </a:pPr>
            <a:r>
              <a:rPr lang="en-US" sz="285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uses engineered physiological features</a:t>
            </a:r>
          </a:p>
          <a:p>
            <a:pPr algn="l" marL="1230980" indent="-410327" lvl="2">
              <a:lnSpc>
                <a:spcPts val="3420"/>
              </a:lnSpc>
              <a:buFont typeface="Arial"/>
              <a:buChar char="⚬"/>
            </a:pPr>
            <a:r>
              <a:rPr lang="en-US" sz="2850">
                <a:solidFill>
                  <a:srgbClr val="A2272C"/>
                </a:solidFill>
                <a:latin typeface="Agrandir"/>
                <a:ea typeface="Agrandir"/>
                <a:cs typeface="Agrandir"/>
                <a:sym typeface="Agrandir"/>
              </a:rPr>
              <a:t>focuses on temporal transitions</a:t>
            </a:r>
          </a:p>
          <a:p>
            <a:pPr algn="l" marL="461621" indent="-230810" lvl="1">
              <a:lnSpc>
                <a:spcPts val="2565"/>
              </a:lnSpc>
              <a:buFont typeface="Arial"/>
              <a:buChar char="•"/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5282488">
            <a:off x="13919687" y="4130222"/>
            <a:ext cx="5414609" cy="9893804"/>
          </a:xfrm>
          <a:custGeom>
            <a:avLst/>
            <a:gdLst/>
            <a:ahLst/>
            <a:cxnLst/>
            <a:rect r="r" b="b" t="t" l="l"/>
            <a:pathLst>
              <a:path h="9893804" w="5414609">
                <a:moveTo>
                  <a:pt x="0" y="0"/>
                </a:moveTo>
                <a:lnTo>
                  <a:pt x="5414609" y="0"/>
                </a:lnTo>
                <a:lnTo>
                  <a:pt x="5414609" y="9893805"/>
                </a:lnTo>
                <a:lnTo>
                  <a:pt x="0" y="989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3740" y="3939129"/>
            <a:ext cx="3127547" cy="2263206"/>
          </a:xfrm>
          <a:custGeom>
            <a:avLst/>
            <a:gdLst/>
            <a:ahLst/>
            <a:cxnLst/>
            <a:rect r="r" b="b" t="t" l="l"/>
            <a:pathLst>
              <a:path h="2263206" w="3127547">
                <a:moveTo>
                  <a:pt x="0" y="0"/>
                </a:moveTo>
                <a:lnTo>
                  <a:pt x="3127547" y="0"/>
                </a:lnTo>
                <a:lnTo>
                  <a:pt x="3127547" y="2263207"/>
                </a:lnTo>
                <a:lnTo>
                  <a:pt x="0" y="2263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31287" y="4825497"/>
            <a:ext cx="3127547" cy="2263206"/>
          </a:xfrm>
          <a:custGeom>
            <a:avLst/>
            <a:gdLst/>
            <a:ahLst/>
            <a:cxnLst/>
            <a:rect r="r" b="b" t="t" l="l"/>
            <a:pathLst>
              <a:path h="2263206" w="3127547">
                <a:moveTo>
                  <a:pt x="0" y="0"/>
                </a:moveTo>
                <a:lnTo>
                  <a:pt x="3127547" y="0"/>
                </a:lnTo>
                <a:lnTo>
                  <a:pt x="3127547" y="2263206"/>
                </a:lnTo>
                <a:lnTo>
                  <a:pt x="0" y="22632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98444" y="6630043"/>
            <a:ext cx="3127547" cy="2263206"/>
          </a:xfrm>
          <a:custGeom>
            <a:avLst/>
            <a:gdLst/>
            <a:ahLst/>
            <a:cxnLst/>
            <a:rect r="r" b="b" t="t" l="l"/>
            <a:pathLst>
              <a:path h="2263206" w="3127547">
                <a:moveTo>
                  <a:pt x="0" y="0"/>
                </a:moveTo>
                <a:lnTo>
                  <a:pt x="3127547" y="0"/>
                </a:lnTo>
                <a:lnTo>
                  <a:pt x="3127547" y="2263207"/>
                </a:lnTo>
                <a:lnTo>
                  <a:pt x="0" y="2263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8542" y="1375339"/>
            <a:ext cx="1304274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2"/>
              </a:lnSpc>
            </a:pP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FINAL</a:t>
            </a:r>
            <a:r>
              <a:rPr lang="en-US" b="true" sz="6800">
                <a:solidFill>
                  <a:srgbClr val="A2272C"/>
                </a:solidFill>
                <a:latin typeface="Londrina Solid Heavy"/>
                <a:ea typeface="Londrina Solid Heavy"/>
                <a:cs typeface="Londrina Solid Heavy"/>
                <a:sym typeface="Londrina Solid Heavy"/>
              </a:rPr>
              <a:t> CONCEPTUAL INSIGHT</a:t>
            </a:r>
          </a:p>
        </p:txBody>
      </p:sp>
    </p:spTree>
  </p:cSld>
  <p:clrMapOvr>
    <a:masterClrMapping/>
  </p:clrMapOvr>
  <p:transition spd="fast">
    <p:cover dir="d"/>
  </p:transition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8C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0054" y="2453566"/>
            <a:ext cx="14073254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0"/>
              </a:lnSpc>
            </a:pPr>
            <a:r>
              <a:rPr lang="en-US" sz="20000" b="true">
                <a:solidFill>
                  <a:srgbClr val="A2272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</p:spTree>
  </p:cSld>
  <p:clrMapOvr>
    <a:masterClrMapping/>
  </p:clrMapOvr>
  <p:transition spd="fast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DAHJC2qs-YM</dc:identifier>
  <dcterms:modified xsi:type="dcterms:W3CDTF">2011-08-01T06:04:30Z</dcterms:modified>
  <cp:revision>1</cp:revision>
  <dc:title>Sleep Stage Classification Using Heart-Related Physiological Signals</dc:title>
</cp:coreProperties>
</file>